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customXml/itemProps3.xml" ContentType="application/vnd.openxmlformats-officedocument.customXml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80" r:id="rId14"/>
    <p:sldId id="266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custDataLst>
    <p:custData r:id="rId2"/>
    <p:custData r:id="rId3"/>
    <p:custData r:id="rId1"/>
  </p:custDataLst>
  <p:defaultTextStyle>
    <a:defPPr>
      <a:defRPr lang="es-ES_tradnl"/>
    </a:defPPr>
    <a:lvl1pPr algn="l" rtl="0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+mn-cs"/>
      </a:defRPr>
    </a:lvl1pPr>
    <a:lvl2pPr marL="457200" algn="l" rtl="0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+mn-cs"/>
      </a:defRPr>
    </a:lvl2pPr>
    <a:lvl3pPr marL="914400" algn="l" rtl="0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+mn-cs"/>
      </a:defRPr>
    </a:lvl3pPr>
    <a:lvl4pPr marL="1371600" algn="l" rtl="0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+mn-cs"/>
      </a:defRPr>
    </a:lvl4pPr>
    <a:lvl5pPr marL="1828800" algn="l" rtl="0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>
      <a:defRPr>
        <a:solidFill>
          <a:schemeClr val="tx1"/>
        </a:solidFill>
        <a:latin typeface="Arial"/>
        <a:ea typeface="+mn-ea"/>
        <a:cs typeface="+mn-cs"/>
      </a:defRPr>
    </a:lvl6pPr>
    <a:lvl7pPr marL="2743200" algn="l" defTabSz="914400" rtl="0">
      <a:defRPr>
        <a:solidFill>
          <a:schemeClr val="tx1"/>
        </a:solidFill>
        <a:latin typeface="Arial"/>
        <a:ea typeface="+mn-ea"/>
        <a:cs typeface="+mn-cs"/>
      </a:defRPr>
    </a:lvl7pPr>
    <a:lvl8pPr marL="3200400" algn="l" defTabSz="914400" rtl="0">
      <a:defRPr>
        <a:solidFill>
          <a:schemeClr val="tx1"/>
        </a:solidFill>
        <a:latin typeface="Arial"/>
        <a:ea typeface="+mn-ea"/>
        <a:cs typeface="+mn-cs"/>
      </a:defRPr>
    </a:lvl8pPr>
    <a:lvl9pPr marL="3657600" algn="l" defTabSz="914400" rtl="0">
      <a:defRPr>
        <a:solidFill>
          <a:schemeClr val="tx1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ustomXml" Target="../customXml/item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344140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1469999682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DE564A1-3ED0-44C8-9871-D28E4303A000}" type="datetimeFigureOut">
              <a:rPr lang="es-CO"/>
              <a:t>21/07/2026</a:t>
            </a:fld>
            <a:endParaRPr lang="es-CO"/>
          </a:p>
        </p:txBody>
      </p:sp>
      <p:sp>
        <p:nvSpPr>
          <p:cNvPr id="1460794596" name="Marcador de imagen de diapositiva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>
              <a:defRPr/>
            </a:pPr>
            <a:endParaRPr lang="es-CO"/>
          </a:p>
        </p:txBody>
      </p:sp>
      <p:sp>
        <p:nvSpPr>
          <p:cNvPr id="1665898501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CO"/>
          </a:p>
        </p:txBody>
      </p:sp>
      <p:sp>
        <p:nvSpPr>
          <p:cNvPr id="2132199917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1621601022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5F6D0B9-DF90-4C92-8AD4-5C3D2A04672C}" type="slidenum">
              <a:rPr lang="es-CO"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71089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766426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679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7F8FE6-1DEB-A4A3-ED2A-C5A67297295C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023010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2540455" name="Marcador de notas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s-CO"/>
          </a:p>
        </p:txBody>
      </p:sp>
      <p:sp>
        <p:nvSpPr>
          <p:cNvPr id="1353727836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defRPr/>
            </a:pPr>
            <a:fld id="{EE985B54-4972-4226-9C4E-8C089F335A36}" type="slidenum">
              <a:rPr lang="es-CO"/>
              <a:t>2</a:t>
            </a:fld>
            <a:endParaRPr lang="es-CO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40903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09795627" name="Marcador de notas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s-CO"/>
          </a:p>
        </p:txBody>
      </p:sp>
      <p:sp>
        <p:nvSpPr>
          <p:cNvPr id="577433821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defRPr/>
            </a:pPr>
            <a:fld id="{59556770-9901-45E2-BDB8-7FA675530D81}" type="slidenum">
              <a:rPr lang="es-CO"/>
              <a:t>3</a:t>
            </a:fld>
            <a:endParaRPr lang="es-CO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784608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292511" name="Marcador de notas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s-CO"/>
          </a:p>
        </p:txBody>
      </p:sp>
      <p:sp>
        <p:nvSpPr>
          <p:cNvPr id="1419627305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defRPr/>
            </a:pPr>
            <a:fld id="{A81E5EF0-7CE9-44DF-961E-AF789ACE2AE3}" type="slidenum">
              <a:rPr lang="es-CO"/>
              <a:t>4</a:t>
            </a:fld>
            <a:endParaRPr lang="es-CO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770576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2964564" name="Marcador de notas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s-CO"/>
          </a:p>
        </p:txBody>
      </p:sp>
      <p:sp>
        <p:nvSpPr>
          <p:cNvPr id="2109705940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defRPr/>
            </a:pPr>
            <a:fld id="{0A928C8A-6527-4D17-A8B1-B5C22D65F882}" type="slidenum">
              <a:rPr lang="es-CO"/>
              <a:t>5</a:t>
            </a:fld>
            <a:endParaRPr lang="es-CO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816407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8852664" name="Marcador de notas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s-CO"/>
          </a:p>
        </p:txBody>
      </p:sp>
      <p:sp>
        <p:nvSpPr>
          <p:cNvPr id="974752773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defRPr/>
            </a:pPr>
            <a:fld id="{5B92EF3F-3D0F-42FE-8C5F-1C6CC98B6A5F}" type="slidenum">
              <a:rPr lang="es-CO"/>
              <a:t>6</a:t>
            </a:fld>
            <a:endParaRPr lang="es-CO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707406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2454290" name="Marcador de notas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s-CO"/>
          </a:p>
        </p:txBody>
      </p:sp>
      <p:sp>
        <p:nvSpPr>
          <p:cNvPr id="1828674771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defRPr/>
            </a:pPr>
            <a:fld id="{FB1E7AC7-4092-46F1-AF52-C248D15D452E}" type="slidenum">
              <a:rPr lang="es-CO"/>
              <a:t>7</a:t>
            </a:fld>
            <a:endParaRPr lang="es-CO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18744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13332202" name="Marcador de notas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s-CO"/>
          </a:p>
        </p:txBody>
      </p:sp>
      <p:sp>
        <p:nvSpPr>
          <p:cNvPr id="1505681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defRPr/>
            </a:pPr>
            <a:fld id="{AD012662-B023-4D5A-BF7F-11403E68557E}" type="slidenum">
              <a:rPr lang="es-CO"/>
              <a:t>8</a:t>
            </a:fld>
            <a:endParaRPr lang="es-CO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3949456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5496717" name="Marcador de notas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s-CO"/>
          </a:p>
        </p:txBody>
      </p:sp>
      <p:sp>
        <p:nvSpPr>
          <p:cNvPr id="223436336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defRPr/>
            </a:pPr>
            <a:fld id="{280C31F0-0AC7-4E16-A712-FC687CA95EA1}" type="slidenum">
              <a:rPr lang="es-CO"/>
              <a:t>9</a:t>
            </a:fld>
            <a:endParaRPr lang="es-CO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F61B9-F901-3C62-066E-FDB659C2623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3949456" name="Marcador de imagen de diapositiva 1">
            <a:extLst>
              <a:ext uri="{FF2B5EF4-FFF2-40B4-BE49-F238E27FC236}">
                <a16:creationId xmlns:a16="http://schemas.microsoft.com/office/drawing/2014/main" id="{8E26FCE9-DBAC-9DE9-1896-9D1086BDE5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5496717" name="Marcador de notas 2">
            <a:extLst>
              <a:ext uri="{FF2B5EF4-FFF2-40B4-BE49-F238E27FC236}">
                <a16:creationId xmlns:a16="http://schemas.microsoft.com/office/drawing/2014/main" id="{B89990FB-831E-297C-FF37-1B9797FFE9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s-CO"/>
          </a:p>
        </p:txBody>
      </p:sp>
      <p:sp>
        <p:nvSpPr>
          <p:cNvPr id="223436336" name="Marcador de número de diapositiva 3">
            <a:extLst>
              <a:ext uri="{FF2B5EF4-FFF2-40B4-BE49-F238E27FC236}">
                <a16:creationId xmlns:a16="http://schemas.microsoft.com/office/drawing/2014/main" id="{20A45075-7ECD-D274-B519-7CDE37559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defRPr/>
            </a:pPr>
            <a:fld id="{280C31F0-0AC7-4E16-A712-FC687CA95EA1}" type="slidenum">
              <a:rPr lang="es-CO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11979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164550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66395596" name="Marcador de notas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s-CO"/>
          </a:p>
        </p:txBody>
      </p:sp>
      <p:sp>
        <p:nvSpPr>
          <p:cNvPr id="95919421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defRPr/>
            </a:pPr>
            <a:fld id="{280C31F0-0AC7-4E16-A712-FC687CA95EA1}" type="slidenum">
              <a:rPr lang="es-CO"/>
              <a:t>11</a:t>
            </a:fld>
            <a:endParaRPr lang="es-CO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221169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82559" name="Marcador de notas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s-CO"/>
          </a:p>
        </p:txBody>
      </p:sp>
      <p:sp>
        <p:nvSpPr>
          <p:cNvPr id="796532968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defRPr/>
            </a:pPr>
            <a:fld id="{8F67C6C5-7E21-4E8F-8134-38A553B6D5CF}" type="slidenum">
              <a:rPr lang="es-CO"/>
              <a:t>12</a:t>
            </a:fld>
            <a:endParaRPr lang="es-CO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101769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1302982" name="Marcador de notas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s-CO"/>
          </a:p>
        </p:txBody>
      </p:sp>
      <p:sp>
        <p:nvSpPr>
          <p:cNvPr id="217342762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defRPr/>
            </a:pPr>
            <a:fld id="{8F67C6C5-7E21-4E8F-8134-38A553B6D5CF}" type="slidenum">
              <a:rPr lang="es-CO"/>
              <a:t>13</a:t>
            </a:fld>
            <a:endParaRPr lang="es-CO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092555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9663759" name="Marcador de notas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s-CO"/>
          </a:p>
        </p:txBody>
      </p:sp>
      <p:sp>
        <p:nvSpPr>
          <p:cNvPr id="1746773086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4D3840B-B2A2-4EAB-9C74-9F0059B9607A}" type="slidenum">
              <a:rPr lang="es-CO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+mn-ea"/>
                <a:cs typeface="+mn-cs"/>
              </a:rPr>
              <a:t>14</a:t>
            </a:fld>
            <a:endParaRPr lang="es-CO" sz="1200" b="0" i="0" u="none" strike="noStrike" cap="none" spc="0">
              <a:ln>
                <a:noFill/>
              </a:ln>
              <a:solidFill>
                <a:prstClr val="black"/>
              </a:solidFill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8455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8871738" name="Marcador de notas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s-CO"/>
          </a:p>
        </p:txBody>
      </p:sp>
      <p:sp>
        <p:nvSpPr>
          <p:cNvPr id="176772753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defRPr/>
            </a:pPr>
            <a:fld id="{E4D3840B-B2A2-4EAB-9C74-9F0059B9607A}" type="slidenum">
              <a:rPr lang="es-CO"/>
              <a:t>15</a:t>
            </a:fld>
            <a:endParaRPr lang="es-CO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8967051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607221" name="Marcador de notas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s-CO"/>
          </a:p>
        </p:txBody>
      </p:sp>
      <p:sp>
        <p:nvSpPr>
          <p:cNvPr id="797341165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defRPr/>
            </a:pPr>
            <a:fld id="{E4D3840B-B2A2-4EAB-9C74-9F0059B9607A}" type="slidenum">
              <a:rPr lang="es-CO"/>
              <a:t>16</a:t>
            </a:fld>
            <a:endParaRPr lang="es-CO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908584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2586018" name="Marcador de notas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s-CO"/>
          </a:p>
        </p:txBody>
      </p:sp>
      <p:sp>
        <p:nvSpPr>
          <p:cNvPr id="1698644918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defRPr/>
            </a:pPr>
            <a:fld id="{BD0953AD-2051-49A7-86AA-C3C8A01A2580}" type="slidenum">
              <a:rPr lang="es-CO"/>
              <a:t>17</a:t>
            </a:fld>
            <a:endParaRPr lang="es-CO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6404458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1435841" name="Marcador de notas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s-CO"/>
          </a:p>
        </p:txBody>
      </p:sp>
      <p:sp>
        <p:nvSpPr>
          <p:cNvPr id="1183579320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defRPr/>
            </a:pPr>
            <a:fld id="{FACC47F3-0589-49A3-8A25-B12A1A092134}" type="slidenum">
              <a:rPr lang="es-CO"/>
              <a:t>18</a:t>
            </a:fld>
            <a:endParaRPr lang="es-CO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1499613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99119752" name="Marcador de notas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s-CO"/>
          </a:p>
        </p:txBody>
      </p:sp>
      <p:sp>
        <p:nvSpPr>
          <p:cNvPr id="4176407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defRPr/>
            </a:pPr>
            <a:fld id="{184BF4F7-9E3B-4805-8D04-B88CA62DDF54}" type="slidenum">
              <a:rPr lang="es-CO"/>
              <a:t>19</a:t>
            </a:fld>
            <a:endParaRPr lang="es-CO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922815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59217859" name="Marcador de notas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s-CO"/>
          </a:p>
        </p:txBody>
      </p:sp>
      <p:sp>
        <p:nvSpPr>
          <p:cNvPr id="752642035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defRPr/>
            </a:pPr>
            <a:fld id="{FD7451BB-895B-4389-A92E-68960D123957}" type="slidenum">
              <a:rPr lang="es-CO"/>
              <a:t>20</a:t>
            </a:fld>
            <a:endParaRPr lang="es-CO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530444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2385463" name="Marcador de notas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s-CO"/>
          </a:p>
        </p:txBody>
      </p:sp>
      <p:sp>
        <p:nvSpPr>
          <p:cNvPr id="1231877229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defRPr/>
            </a:pPr>
            <a:fld id="{FD7451BB-895B-4389-A92E-68960D123957}" type="slidenum">
              <a:rPr lang="es-CO"/>
              <a:t>21</a:t>
            </a:fld>
            <a:endParaRPr lang="es-C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Diapositiva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852723" name="Title 1"/>
          <p:cNvSpPr>
            <a:spLocks noGrp="1"/>
          </p:cNvSpPr>
          <p:nvPr>
            <p:ph type="ctrTitle"/>
          </p:nvPr>
        </p:nvSpPr>
        <p:spPr bwMode="auto"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397099695" name="Subtitle 2"/>
          <p:cNvSpPr>
            <a:spLocks noGrp="1"/>
          </p:cNvSpPr>
          <p:nvPr>
            <p:ph type="subTitle" idx="1"/>
          </p:nvPr>
        </p:nvSpPr>
        <p:spPr bwMode="auto"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2949140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14050580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978125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2445CA2-E229-4C9C-8377-EE0D24BF9EA5}" type="slidenum">
              <a:rPr lang="es-ES_tradnl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ítulo y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5910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6799692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17560340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125579014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12058742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85327EA-CCBD-4A31-AAFF-BFF716177741}" type="slidenum">
              <a:rPr lang="es-ES_tradnl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Encabezado de sec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5458433" name="Title 1"/>
          <p:cNvSpPr>
            <a:spLocks noGrp="1"/>
          </p:cNvSpPr>
          <p:nvPr>
            <p:ph type="title"/>
          </p:nvPr>
        </p:nvSpPr>
        <p:spPr bwMode="auto"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02270634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5940759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1998545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013871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8154CBFA-391B-401B-AAD1-AE1038859016}" type="slidenum">
              <a:rPr lang="es-ES_tradnl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Dos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703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8201665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286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152612269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291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19079485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18103467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748484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E3E4E52-7ECA-4778-B358-842EE449A322}" type="slidenum">
              <a:rPr lang="es-ES_tradnl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a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439839" name="Title 1"/>
          <p:cNvSpPr>
            <a:spLocks noGrp="1"/>
          </p:cNvSpPr>
          <p:nvPr>
            <p:ph type="title"/>
          </p:nvPr>
        </p:nvSpPr>
        <p:spPr bwMode="auto">
          <a:xfrm>
            <a:off x="629841" y="365126"/>
            <a:ext cx="7886700" cy="1325563"/>
          </a:xfrm>
        </p:spPr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861348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7767377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9842" y="2505074"/>
            <a:ext cx="3868340" cy="368458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20200057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99057850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29150" y="2505074"/>
            <a:ext cx="3887391" cy="368458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15789936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33367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11809840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FBB9D437-312D-4044-8F9B-3B911494C82D}" type="slidenum">
              <a:rPr lang="es-ES_tradnl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Solo el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6778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3084096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16908208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9113831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54BA8955-CB8A-45C9-A25F-3983C263F6F9}" type="slidenum">
              <a:rPr lang="es-ES_tradnl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En bl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469586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14487444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8613619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98097910-75E6-4B80-BB47-D47ABDF2520A}" type="slidenum">
              <a:rPr lang="es-ES_tradnl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ido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523867" name="Titl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111252527" name="Content Placeholder 2"/>
          <p:cNvSpPr>
            <a:spLocks noGrp="1"/>
          </p:cNvSpPr>
          <p:nvPr>
            <p:ph idx="1"/>
          </p:nvPr>
        </p:nvSpPr>
        <p:spPr bwMode="auto"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1275696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6208212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14223308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188931664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E2FD5C4-5971-42E6-BF45-26892ECBE2BB}" type="slidenum">
              <a:rPr lang="es-ES_tradnl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Imagen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516262" name="Titl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24725509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68106340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3927205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2100293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133533854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538FA46C-622E-4F24-A92A-90C796026549}" type="slidenum">
              <a:rPr lang="es-ES_tradnl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ítulo y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0223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99329792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10668343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597785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15422723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CD82FF9-9884-4896-A248-06519F541EAE}" type="slidenum">
              <a:rPr lang="es-ES_tradnl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Título vertical y tex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526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543675" y="365125"/>
            <a:ext cx="1971675" cy="5811838"/>
          </a:xfrm>
        </p:spPr>
        <p:txBody>
          <a:bodyPr vert="eaVert"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9550916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2147357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1732008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14790753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89806E9D-A432-453A-90A2-66F580EB361F}" type="slidenum">
              <a:rPr lang="es-ES_tradnl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183664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5920738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8542611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6100339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0927073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92889FA-3613-484B-887B-43596913A8A5}" type="slidenum">
              <a:rPr lang="es-ES_tradnl"/>
              <a:t>‹Nº›</a:t>
            </a:fld>
            <a:endParaRPr lang="es-ES_trad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 Light"/>
        </a:defRPr>
      </a:lvl2pPr>
      <a:lvl3pPr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 Light"/>
        </a:defRPr>
      </a:lvl3pPr>
      <a:lvl4pPr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 Light"/>
        </a:defRPr>
      </a:lvl4pPr>
      <a:lvl5pPr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 Light"/>
        </a:defRPr>
      </a:lvl5pPr>
      <a:lvl6pPr marL="457200"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 Light"/>
        </a:defRPr>
      </a:lvl6pPr>
      <a:lvl7pPr marL="914400"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 Light"/>
        </a:defRPr>
      </a:lvl7pPr>
      <a:lvl8pPr marL="1371600"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 Light"/>
        </a:defRPr>
      </a:lvl8pPr>
      <a:lvl9pPr marL="1828800"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 Light"/>
        </a:defRPr>
      </a:lvl9pPr>
    </p:titleStyle>
    <p:bodyStyle>
      <a:lvl1pPr marL="228600" indent="-228600" algn="l" rtl="0">
        <a:lnSpc>
          <a:spcPct val="90000"/>
        </a:lnSpc>
        <a:spcBef>
          <a:spcPts val="1000"/>
        </a:spcBef>
        <a:spcAft>
          <a:spcPts val="0"/>
        </a:spcAft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>
        <a:lnSpc>
          <a:spcPct val="90000"/>
        </a:lnSpc>
        <a:spcBef>
          <a:spcPts val="500"/>
        </a:spcBef>
        <a:spcAft>
          <a:spcPts val="0"/>
        </a:spcAft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>
        <a:lnSpc>
          <a:spcPct val="90000"/>
        </a:lnSpc>
        <a:spcBef>
          <a:spcPts val="500"/>
        </a:spcBef>
        <a:spcAft>
          <a:spcPts val="0"/>
        </a:spcAft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>
        <a:lnSpc>
          <a:spcPct val="90000"/>
        </a:lnSpc>
        <a:spcBef>
          <a:spcPts val="500"/>
        </a:spcBef>
        <a:spcAft>
          <a:spcPts val="0"/>
        </a:spcAft>
        <a:buFont typeface="Arial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>
        <a:lnSpc>
          <a:spcPct val="90000"/>
        </a:lnSpc>
        <a:spcBef>
          <a:spcPts val="500"/>
        </a:spcBef>
        <a:spcAft>
          <a:spcPts val="0"/>
        </a:spcAft>
        <a:buFont typeface="Arial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784472" name="Rectángulo 1"/>
          <p:cNvSpPr>
            <a:spLocks noChangeArrowheads="1"/>
          </p:cNvSpPr>
          <p:nvPr/>
        </p:nvSpPr>
        <p:spPr bwMode="auto">
          <a:xfrm>
            <a:off x="0" y="2852736"/>
            <a:ext cx="9151558" cy="94523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s-CO" b="1" dirty="0">
                <a:solidFill>
                  <a:srgbClr val="002060"/>
                </a:solidFill>
                <a:latin typeface="Garamond"/>
              </a:rPr>
              <a:t>PRESENTACIÓN ASIGNATURA</a:t>
            </a:r>
            <a:endParaRPr dirty="0"/>
          </a:p>
          <a:p>
            <a:pPr algn="ctr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s-ES" b="1" dirty="0">
                <a:solidFill>
                  <a:srgbClr val="002060"/>
                </a:solidFill>
                <a:latin typeface="Garamond"/>
              </a:rPr>
              <a:t>ANALÍTICA DE DATOS</a:t>
            </a:r>
            <a:endParaRPr dirty="0"/>
          </a:p>
        </p:txBody>
      </p:sp>
      <p:sp>
        <p:nvSpPr>
          <p:cNvPr id="163800732" name="CuadroTexto 2"/>
          <p:cNvSpPr txBox="1">
            <a:spLocks noChangeArrowheads="1"/>
          </p:cNvSpPr>
          <p:nvPr/>
        </p:nvSpPr>
        <p:spPr bwMode="auto">
          <a:xfrm>
            <a:off x="0" y="4221162"/>
            <a:ext cx="5443519" cy="118907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lvl="1" algn="just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s-CO" dirty="0">
                <a:solidFill>
                  <a:srgbClr val="002060"/>
                </a:solidFill>
                <a:latin typeface="Garamond"/>
              </a:rPr>
              <a:t>Profesor:</a:t>
            </a:r>
            <a:r>
              <a:rPr lang="es-ES" dirty="0">
                <a:solidFill>
                  <a:srgbClr val="002060"/>
                </a:solidFill>
                <a:latin typeface="Garamond"/>
              </a:rPr>
              <a:t> CARLOS RAMOS</a:t>
            </a:r>
            <a:endParaRPr lang="es-CO" dirty="0">
              <a:solidFill>
                <a:srgbClr val="002060"/>
              </a:solidFill>
              <a:latin typeface="Garamond"/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s-ES" dirty="0">
                <a:solidFill>
                  <a:srgbClr val="002060"/>
                </a:solidFill>
                <a:latin typeface="Garamond"/>
              </a:rPr>
              <a:t>Correo: carlosraor@unisabana.edu.co</a:t>
            </a:r>
            <a:endParaRPr dirty="0">
              <a:solidFill>
                <a:srgbClr val="FF0000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443694" name="1 Título"/>
          <p:cNvSpPr txBox="1"/>
          <p:nvPr/>
        </p:nvSpPr>
        <p:spPr bwMode="auto">
          <a:xfrm>
            <a:off x="457200" y="260350"/>
            <a:ext cx="8229600" cy="8540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defTabSz="4572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s-CO" sz="3200" b="1">
                <a:solidFill>
                  <a:schemeClr val="accent5">
                    <a:lumMod val="75000"/>
                  </a:schemeClr>
                </a:solidFill>
                <a:latin typeface="Garamond"/>
              </a:rPr>
              <a:t>CONTENIDO</a:t>
            </a:r>
            <a:endParaRPr/>
          </a:p>
        </p:txBody>
      </p:sp>
      <p:sp>
        <p:nvSpPr>
          <p:cNvPr id="1287280483" name="2 Marcador de contenido"/>
          <p:cNvSpPr txBox="1"/>
          <p:nvPr/>
        </p:nvSpPr>
        <p:spPr bwMode="auto">
          <a:xfrm>
            <a:off x="287338" y="1341438"/>
            <a:ext cx="8569325" cy="230346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>
              <a:lnSpc>
                <a:spcPct val="100000"/>
              </a:lnSpc>
              <a:spcBef>
                <a:spcPts val="0"/>
              </a:spcBef>
              <a:buFont typeface="Wingdings"/>
              <a:buChar char="Ø"/>
              <a:defRPr/>
            </a:pPr>
            <a:r>
              <a:rPr lang="es-CO" sz="3200">
                <a:solidFill>
                  <a:srgbClr val="002060"/>
                </a:solidFill>
                <a:latin typeface="Garamond"/>
              </a:rPr>
              <a:t>Sabana Plus.</a:t>
            </a:r>
            <a:endParaRPr/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/>
              <a:buChar char="Ø"/>
              <a:defRPr/>
            </a:pPr>
            <a:r>
              <a:rPr lang="es-CO" sz="3200">
                <a:solidFill>
                  <a:srgbClr val="002060"/>
                </a:solidFill>
                <a:latin typeface="Garamond"/>
              </a:rPr>
              <a:t>Bibliografía.</a:t>
            </a:r>
            <a:endParaRPr/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/>
              <a:buChar char="Ø"/>
              <a:defRPr/>
            </a:pPr>
            <a:r>
              <a:rPr lang="es-CO" sz="3200">
                <a:solidFill>
                  <a:srgbClr val="002060"/>
                </a:solidFill>
                <a:latin typeface="Garamond"/>
              </a:rPr>
              <a:t>Metodología de Evaluación.</a:t>
            </a:r>
            <a:endParaRPr/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/>
              <a:buChar char="Ø"/>
              <a:defRPr/>
            </a:pPr>
            <a:r>
              <a:rPr lang="es-CO" sz="3200">
                <a:solidFill>
                  <a:srgbClr val="002060"/>
                </a:solidFill>
                <a:latin typeface="Garamond"/>
              </a:rPr>
              <a:t>Monitorias. </a:t>
            </a:r>
            <a:endParaRPr/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/>
              <a:buChar char="Ø"/>
              <a:defRPr/>
            </a:pPr>
            <a:r>
              <a:rPr lang="es-CO" sz="3200">
                <a:solidFill>
                  <a:srgbClr val="002060"/>
                </a:solidFill>
                <a:latin typeface="Garamond"/>
              </a:rPr>
              <a:t>Reglas para evaluaciones.</a:t>
            </a:r>
            <a:endParaRPr/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/>
              <a:buChar char="Ø"/>
              <a:defRPr/>
            </a:pPr>
            <a:r>
              <a:rPr lang="es-CO" sz="3200">
                <a:solidFill>
                  <a:srgbClr val="002060"/>
                </a:solidFill>
                <a:latin typeface="Garamond"/>
              </a:rPr>
              <a:t>Reglas de convivencia en la clase.</a:t>
            </a:r>
            <a:endParaRPr/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/>
              <a:buChar char="Ø"/>
              <a:defRPr/>
            </a:pPr>
            <a:endParaRPr lang="es-CO" sz="3200">
              <a:solidFill>
                <a:srgbClr val="002060"/>
              </a:solidFill>
              <a:latin typeface="Garamon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215545" name="2 Marcador de contenido"/>
          <p:cNvSpPr txBox="1"/>
          <p:nvPr/>
        </p:nvSpPr>
        <p:spPr bwMode="auto">
          <a:xfrm>
            <a:off x="827088" y="2060575"/>
            <a:ext cx="7653337" cy="296703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endParaRPr lang="es-CO">
              <a:latin typeface="Garamond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/>
              <a:buChar char="Ø"/>
              <a:defRPr/>
            </a:pPr>
            <a:endParaRPr lang="es-CO" sz="2400">
              <a:latin typeface="Garamond"/>
            </a:endParaRPr>
          </a:p>
        </p:txBody>
      </p:sp>
      <p:sp>
        <p:nvSpPr>
          <p:cNvPr id="1042984660" name="1 Título"/>
          <p:cNvSpPr txBox="1"/>
          <p:nvPr/>
        </p:nvSpPr>
        <p:spPr bwMode="auto">
          <a:xfrm>
            <a:off x="538163" y="19161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defTabSz="4572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s-CO" sz="6000" b="1" dirty="0">
                <a:solidFill>
                  <a:schemeClr val="accent5">
                    <a:lumMod val="75000"/>
                  </a:schemeClr>
                </a:solidFill>
                <a:latin typeface="Garamond"/>
              </a:rPr>
              <a:t>SABANA PLUS y TEAMS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394649" name="2 Marcador de contenido"/>
          <p:cNvSpPr txBox="1"/>
          <p:nvPr/>
        </p:nvSpPr>
        <p:spPr bwMode="auto">
          <a:xfrm>
            <a:off x="744538" y="404813"/>
            <a:ext cx="7653337" cy="720724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endParaRPr lang="es-CO">
              <a:latin typeface="Garamond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/>
              <a:buChar char="Ø"/>
              <a:defRPr/>
            </a:pPr>
            <a:endParaRPr lang="es-CO" sz="2400">
              <a:latin typeface="Garamond"/>
            </a:endParaRPr>
          </a:p>
        </p:txBody>
      </p:sp>
      <p:sp>
        <p:nvSpPr>
          <p:cNvPr id="464105697" name="1 Título"/>
          <p:cNvSpPr txBox="1"/>
          <p:nvPr/>
        </p:nvSpPr>
        <p:spPr bwMode="auto">
          <a:xfrm>
            <a:off x="457200" y="19367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defTabSz="4572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s-ES" sz="4800" b="1" dirty="0">
                <a:solidFill>
                  <a:schemeClr val="accent5">
                    <a:lumMod val="75000"/>
                  </a:schemeClr>
                </a:solidFill>
                <a:latin typeface="Garamond"/>
              </a:rPr>
              <a:t>S</a:t>
            </a:r>
            <a:r>
              <a:rPr lang="es-CO" sz="4800" b="1" dirty="0">
                <a:solidFill>
                  <a:schemeClr val="accent5">
                    <a:lumMod val="75000"/>
                  </a:schemeClr>
                </a:solidFill>
                <a:latin typeface="Garamond"/>
              </a:rPr>
              <a:t>ABANA PLUS y TEAMS</a:t>
            </a:r>
            <a:endParaRPr dirty="0"/>
          </a:p>
        </p:txBody>
      </p:sp>
      <p:sp>
        <p:nvSpPr>
          <p:cNvPr id="1749510464" name="CuadroTexto 2"/>
          <p:cNvSpPr txBox="1">
            <a:spLocks noChangeArrowheads="1"/>
          </p:cNvSpPr>
          <p:nvPr/>
        </p:nvSpPr>
        <p:spPr bwMode="auto">
          <a:xfrm>
            <a:off x="179387" y="1700212"/>
            <a:ext cx="8859541" cy="156966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 algn="just">
              <a:spcBef>
                <a:spcPts val="0"/>
              </a:spcBef>
              <a:defRPr/>
            </a:pPr>
            <a:r>
              <a:rPr lang="es-CO" sz="2400" dirty="0">
                <a:solidFill>
                  <a:srgbClr val="002060"/>
                </a:solidFill>
                <a:latin typeface="Garamond"/>
              </a:rPr>
              <a:t>Plataforma donde se encuentra el contenido temático del Curso</a:t>
            </a:r>
            <a:r>
              <a:rPr lang="es-ES" sz="2400" dirty="0">
                <a:solidFill>
                  <a:srgbClr val="002060"/>
                </a:solidFill>
                <a:latin typeface="Garamond"/>
              </a:rPr>
              <a:t>.</a:t>
            </a:r>
          </a:p>
          <a:p>
            <a:pPr algn="just">
              <a:spcBef>
                <a:spcPts val="0"/>
              </a:spcBef>
              <a:defRPr/>
            </a:pPr>
            <a:endParaRPr lang="es-ES" sz="2400" dirty="0">
              <a:solidFill>
                <a:srgbClr val="002060"/>
              </a:solidFill>
              <a:latin typeface="Garamond"/>
            </a:endParaRPr>
          </a:p>
          <a:p>
            <a:pPr algn="just">
              <a:spcBef>
                <a:spcPts val="0"/>
              </a:spcBef>
              <a:defRPr/>
            </a:pPr>
            <a:r>
              <a:rPr lang="es-ES" sz="2400" dirty="0">
                <a:solidFill>
                  <a:srgbClr val="002060"/>
                </a:solidFill>
                <a:latin typeface="Garamond"/>
              </a:rPr>
              <a:t>De momento todo lo trabajaremos mediante el grupo que se creará de TEAMS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152728" name="2 Marcador de contenido"/>
          <p:cNvSpPr txBox="1"/>
          <p:nvPr/>
        </p:nvSpPr>
        <p:spPr bwMode="auto">
          <a:xfrm>
            <a:off x="827088" y="2060575"/>
            <a:ext cx="7653337" cy="296703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endParaRPr lang="es-CO">
              <a:latin typeface="Garamond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/>
              <a:buChar char="Ø"/>
              <a:defRPr/>
            </a:pPr>
            <a:endParaRPr lang="es-CO" sz="2400">
              <a:latin typeface="Garamond"/>
            </a:endParaRPr>
          </a:p>
        </p:txBody>
      </p:sp>
      <p:sp>
        <p:nvSpPr>
          <p:cNvPr id="883606675" name="1 Título"/>
          <p:cNvSpPr txBox="1"/>
          <p:nvPr/>
        </p:nvSpPr>
        <p:spPr bwMode="auto">
          <a:xfrm>
            <a:off x="538163" y="19161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defTabSz="4572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s-MX" sz="6000" b="1">
                <a:solidFill>
                  <a:schemeClr val="accent5">
                    <a:lumMod val="75000"/>
                  </a:schemeClr>
                </a:solidFill>
                <a:latin typeface="Garamond"/>
              </a:rPr>
              <a:t>B</a:t>
            </a:r>
            <a:r>
              <a:rPr lang="es-CO" sz="6000" b="1">
                <a:solidFill>
                  <a:schemeClr val="accent5">
                    <a:lumMod val="75000"/>
                  </a:schemeClr>
                </a:solidFill>
                <a:latin typeface="Garamond"/>
              </a:rPr>
              <a:t>IBLIOGRAFÍA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408894" name="1 Título"/>
          <p:cNvSpPr txBox="1"/>
          <p:nvPr/>
        </p:nvSpPr>
        <p:spPr bwMode="auto">
          <a:xfrm>
            <a:off x="468313" y="1925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defTabSz="4572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endParaRPr lang="es-CO" sz="4000" b="1">
              <a:solidFill>
                <a:srgbClr val="262626"/>
              </a:solidFill>
              <a:latin typeface="Garamond"/>
            </a:endParaRPr>
          </a:p>
        </p:txBody>
      </p:sp>
      <p:sp>
        <p:nvSpPr>
          <p:cNvPr id="1914845485" name="Rectángulo 3"/>
          <p:cNvSpPr>
            <a:spLocks noChangeArrowheads="1"/>
          </p:cNvSpPr>
          <p:nvPr/>
        </p:nvSpPr>
        <p:spPr bwMode="auto">
          <a:xfrm>
            <a:off x="4160838" y="1954213"/>
            <a:ext cx="4732337" cy="242021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lv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6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Segoe UI Symbol" panose="020B0502040204020203" pitchFamily="34" charset="0"/>
              </a:rPr>
              <a:t>Nelli F. Python Data Analytics. With Pandas, NumPy and Matplotlib. Second Ed.</a:t>
            </a:r>
            <a:endParaRPr lang="es-CO" sz="4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font459"/>
            </a:endParaRPr>
          </a:p>
        </p:txBody>
      </p:sp>
      <p:sp>
        <p:nvSpPr>
          <p:cNvPr id="1825330147" name="CuadroTexto 1"/>
          <p:cNvSpPr txBox="1">
            <a:spLocks noChangeArrowheads="1"/>
          </p:cNvSpPr>
          <p:nvPr/>
        </p:nvSpPr>
        <p:spPr bwMode="auto">
          <a:xfrm>
            <a:off x="1692275" y="333375"/>
            <a:ext cx="6551613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s-ES" sz="3200" b="1">
                <a:solidFill>
                  <a:schemeClr val="accent5">
                    <a:lumMod val="75000"/>
                  </a:schemeClr>
                </a:solidFill>
                <a:latin typeface="Garamond"/>
              </a:rPr>
              <a:t>TEXTO GUÍA</a:t>
            </a:r>
            <a:endParaRPr lang="es-CO" sz="3200" b="1">
              <a:solidFill>
                <a:schemeClr val="accent5">
                  <a:lumMod val="75000"/>
                </a:schemeClr>
              </a:solidFill>
              <a:latin typeface="Garamond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9483774-4139-5148-3D62-9EB8AF52F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917575"/>
            <a:ext cx="3096344" cy="43811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243945" name="Rectángulo 3"/>
          <p:cNvSpPr>
            <a:spLocks noChangeArrowheads="1"/>
          </p:cNvSpPr>
          <p:nvPr/>
        </p:nvSpPr>
        <p:spPr bwMode="auto">
          <a:xfrm>
            <a:off x="4160837" y="1954212"/>
            <a:ext cx="4588920" cy="268862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lv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200" dirty="0" err="1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Segoe UI Symbol" panose="020B0502040204020203" pitchFamily="34" charset="0"/>
              </a:rPr>
              <a:t>Unpingo</a:t>
            </a:r>
            <a:r>
              <a:rPr lang="en-US" sz="32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Segoe UI Symbol" panose="020B0502040204020203" pitchFamily="34" charset="0"/>
              </a:rPr>
              <a:t> J. Python for Probability, Statistics and Machine Learning. Second Edition. Ed. Springer.</a:t>
            </a:r>
            <a:endParaRPr lang="es-CO" sz="4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font459"/>
            </a:endParaRPr>
          </a:p>
        </p:txBody>
      </p:sp>
      <p:sp>
        <p:nvSpPr>
          <p:cNvPr id="1153973806" name="CuadroTexto 1"/>
          <p:cNvSpPr txBox="1">
            <a:spLocks noChangeArrowheads="1"/>
          </p:cNvSpPr>
          <p:nvPr/>
        </p:nvSpPr>
        <p:spPr bwMode="auto">
          <a:xfrm>
            <a:off x="2339975" y="381000"/>
            <a:ext cx="4752975" cy="5857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s-ES" sz="3200" b="1">
                <a:solidFill>
                  <a:schemeClr val="accent5">
                    <a:lumMod val="75000"/>
                  </a:schemeClr>
                </a:solidFill>
                <a:latin typeface="Garamond"/>
              </a:rPr>
              <a:t>MATERIAL DE APOYO</a:t>
            </a:r>
            <a:endParaRPr lang="es-CO" sz="3200" b="1">
              <a:solidFill>
                <a:schemeClr val="accent5">
                  <a:lumMod val="75000"/>
                </a:schemeClr>
              </a:solidFill>
              <a:latin typeface="Garamond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6DAD842-FDDC-31A6-223C-F20A3BAA7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1052736"/>
            <a:ext cx="3011238" cy="4318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215485" name="1 Título"/>
          <p:cNvSpPr txBox="1"/>
          <p:nvPr/>
        </p:nvSpPr>
        <p:spPr bwMode="auto">
          <a:xfrm>
            <a:off x="468313" y="1925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defTabSz="4572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endParaRPr lang="es-CO" sz="4000" b="1">
              <a:solidFill>
                <a:srgbClr val="262626"/>
              </a:solidFill>
              <a:latin typeface="Garamond"/>
            </a:endParaRPr>
          </a:p>
        </p:txBody>
      </p:sp>
      <p:sp>
        <p:nvSpPr>
          <p:cNvPr id="368963046" name="1 Título"/>
          <p:cNvSpPr txBox="1"/>
          <p:nvPr/>
        </p:nvSpPr>
        <p:spPr bwMode="auto">
          <a:xfrm>
            <a:off x="441325" y="1557337"/>
            <a:ext cx="8229600" cy="2151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defTabSz="4572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s-CO" sz="4800" b="1">
                <a:solidFill>
                  <a:schemeClr val="accent5">
                    <a:lumMod val="75000"/>
                  </a:schemeClr>
                </a:solidFill>
                <a:latin typeface="Garamond"/>
              </a:rPr>
              <a:t>METODOLOGÍA DE EVALUACIÓN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1326803" name="Título 4"/>
          <p:cNvSpPr>
            <a:spLocks noGrp="1"/>
          </p:cNvSpPr>
          <p:nvPr>
            <p:ph type="ctrTitle"/>
          </p:nvPr>
        </p:nvSpPr>
        <p:spPr bwMode="auto">
          <a:xfrm>
            <a:off x="468313" y="333375"/>
            <a:ext cx="8448675" cy="1235075"/>
          </a:xfrm>
        </p:spPr>
        <p:txBody>
          <a:bodyPr rtlCol="0">
            <a:normAutofit fontScale="90000"/>
          </a:bodyPr>
          <a:lstStyle/>
          <a:p>
            <a:pPr>
              <a:spcAft>
                <a:spcPts val="0"/>
              </a:spcAft>
              <a:defRPr/>
            </a:pPr>
            <a:br>
              <a:rPr lang="es-CO" sz="4000">
                <a:solidFill>
                  <a:schemeClr val="accent5">
                    <a:lumMod val="75000"/>
                  </a:schemeClr>
                </a:solidFill>
                <a:latin typeface="Garamond"/>
              </a:rPr>
            </a:br>
            <a:r>
              <a:rPr lang="es-CO" sz="3600" b="1">
                <a:solidFill>
                  <a:schemeClr val="accent5">
                    <a:lumMod val="75000"/>
                  </a:schemeClr>
                </a:solidFill>
                <a:latin typeface="Garamond"/>
              </a:rPr>
              <a:t>PORCENTAJES DE EVALUACIÓN POR CORTE</a:t>
            </a:r>
            <a:br>
              <a:rPr lang="es-CO" sz="2400" b="1">
                <a:solidFill>
                  <a:schemeClr val="accent5">
                    <a:lumMod val="75000"/>
                  </a:schemeClr>
                </a:solidFill>
                <a:latin typeface="Garamond"/>
              </a:rPr>
            </a:br>
            <a:endParaRPr lang="es-CO" sz="2400">
              <a:solidFill>
                <a:schemeClr val="accent5">
                  <a:lumMod val="75000"/>
                </a:schemeClr>
              </a:solidFill>
              <a:latin typeface="Garamond"/>
            </a:endParaRPr>
          </a:p>
        </p:txBody>
      </p:sp>
      <p:sp>
        <p:nvSpPr>
          <p:cNvPr id="1649022720" name="Subtítulo 5"/>
          <p:cNvSpPr>
            <a:spLocks noGrp="1"/>
          </p:cNvSpPr>
          <p:nvPr>
            <p:ph type="subTitle" idx="1"/>
          </p:nvPr>
        </p:nvSpPr>
        <p:spPr bwMode="auto">
          <a:xfrm>
            <a:off x="323849" y="1214488"/>
            <a:ext cx="8351838" cy="3455988"/>
          </a:xfrm>
        </p:spPr>
        <p:txBody>
          <a:bodyPr rtlCol="0">
            <a:noAutofit/>
          </a:bodyPr>
          <a:lstStyle/>
          <a:p>
            <a:pPr marL="342900" indent="-342900" algn="just">
              <a:spcAft>
                <a:spcPts val="0"/>
              </a:spcAft>
              <a:buFont typeface="Wingdings"/>
              <a:buChar char="Ø"/>
              <a:defRPr/>
            </a:pPr>
            <a:endParaRPr lang="es-CO" sz="3200" dirty="0">
              <a:solidFill>
                <a:srgbClr val="002060"/>
              </a:solidFill>
              <a:latin typeface="Garamond"/>
            </a:endParaRPr>
          </a:p>
          <a:p>
            <a:pPr marL="342900" indent="-342900" algn="just">
              <a:spcAft>
                <a:spcPts val="0"/>
              </a:spcAft>
              <a:buFont typeface="Wingdings"/>
              <a:buChar char="Ø"/>
              <a:defRPr/>
            </a:pPr>
            <a:r>
              <a:rPr lang="es-CO" sz="3200" dirty="0">
                <a:solidFill>
                  <a:srgbClr val="002060"/>
                </a:solidFill>
                <a:latin typeface="Garamond"/>
              </a:rPr>
              <a:t>Corte 1</a:t>
            </a:r>
            <a:r>
              <a:rPr lang="es-ES" sz="3200" dirty="0">
                <a:solidFill>
                  <a:srgbClr val="002060"/>
                </a:solidFill>
                <a:latin typeface="Garamond"/>
              </a:rPr>
              <a:t> (30%).</a:t>
            </a:r>
            <a:endParaRPr lang="es-ES" sz="3200" dirty="0"/>
          </a:p>
          <a:p>
            <a:pPr marL="800100" lvl="1" indent="-342900" algn="just">
              <a:buFont typeface="Wingdings"/>
              <a:buChar char="ü"/>
              <a:defRPr/>
            </a:pPr>
            <a:r>
              <a:rPr lang="es-CO" sz="2400" dirty="0">
                <a:solidFill>
                  <a:srgbClr val="002060"/>
                </a:solidFill>
                <a:latin typeface="Garamond"/>
              </a:rPr>
              <a:t>Examen Parcial: (60 %). </a:t>
            </a:r>
          </a:p>
          <a:p>
            <a:pPr marL="1200150" lvl="2" indent="-342900" algn="just">
              <a:buFont typeface="Wingdings"/>
              <a:buChar char="ü"/>
              <a:defRPr/>
            </a:pPr>
            <a:r>
              <a:rPr lang="es-CO" sz="2000" dirty="0">
                <a:solidFill>
                  <a:srgbClr val="002060"/>
                </a:solidFill>
                <a:latin typeface="Garamond"/>
              </a:rPr>
              <a:t>Selección múltiple 4 preguntas y respuesta corta 2 preguntas (40%)</a:t>
            </a:r>
          </a:p>
          <a:p>
            <a:pPr marL="1200150" lvl="2" indent="-342900" algn="just">
              <a:buFont typeface="Wingdings"/>
              <a:buChar char="ü"/>
              <a:defRPr/>
            </a:pPr>
            <a:r>
              <a:rPr lang="es-CO" sz="2000" dirty="0">
                <a:solidFill>
                  <a:srgbClr val="002060"/>
                </a:solidFill>
                <a:latin typeface="Garamond"/>
              </a:rPr>
              <a:t>2 Preguntas abiertas (60%)</a:t>
            </a:r>
          </a:p>
          <a:p>
            <a:pPr marL="800100" lvl="1" indent="-342900" algn="just">
              <a:spcAft>
                <a:spcPts val="0"/>
              </a:spcAft>
              <a:buFont typeface="Wingdings"/>
              <a:buChar char="ü"/>
              <a:defRPr/>
            </a:pPr>
            <a:r>
              <a:rPr lang="es-ES" sz="2400" dirty="0">
                <a:solidFill>
                  <a:srgbClr val="002060"/>
                </a:solidFill>
                <a:latin typeface="Garamond"/>
              </a:rPr>
              <a:t>Actividades: (40%)</a:t>
            </a:r>
            <a:endParaRPr sz="2800" dirty="0"/>
          </a:p>
          <a:p>
            <a:pPr marL="1200150" lvl="2" indent="-342900" algn="just">
              <a:spcAft>
                <a:spcPts val="0"/>
              </a:spcAft>
              <a:buFont typeface="Wingdings"/>
              <a:buChar char="ü"/>
              <a:defRPr/>
            </a:pPr>
            <a:r>
              <a:rPr lang="es-ES" sz="2000" dirty="0" err="1">
                <a:solidFill>
                  <a:srgbClr val="002060"/>
                </a:solidFill>
                <a:latin typeface="Garamond"/>
              </a:rPr>
              <a:t>Quices</a:t>
            </a:r>
            <a:r>
              <a:rPr lang="es-ES" sz="2000" dirty="0">
                <a:solidFill>
                  <a:srgbClr val="002060"/>
                </a:solidFill>
                <a:latin typeface="Garamond"/>
              </a:rPr>
              <a:t> (20%)</a:t>
            </a:r>
            <a:endParaRPr sz="2400" dirty="0"/>
          </a:p>
          <a:p>
            <a:pPr marL="1200150" lvl="2" indent="-342900" algn="just">
              <a:spcAft>
                <a:spcPts val="0"/>
              </a:spcAft>
              <a:buFont typeface="Wingdings"/>
              <a:buChar char="ü"/>
              <a:defRPr/>
            </a:pPr>
            <a:r>
              <a:rPr lang="es-ES" sz="2000" dirty="0">
                <a:solidFill>
                  <a:srgbClr val="002060"/>
                </a:solidFill>
                <a:latin typeface="Garamond"/>
              </a:rPr>
              <a:t>Talleres (20%)</a:t>
            </a:r>
            <a:endParaRPr sz="2400" dirty="0"/>
          </a:p>
          <a:p>
            <a:pPr lvl="2" algn="just">
              <a:spcAft>
                <a:spcPts val="0"/>
              </a:spcAft>
              <a:defRPr/>
            </a:pPr>
            <a:endParaRPr lang="es-CO" sz="1600" dirty="0">
              <a:solidFill>
                <a:srgbClr val="002060"/>
              </a:solidFill>
              <a:latin typeface="Garamon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C463673-16F5-8479-76DA-184F2A5B2F9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1326803" name="Título 4">
            <a:extLst>
              <a:ext uri="{FF2B5EF4-FFF2-40B4-BE49-F238E27FC236}">
                <a16:creationId xmlns:a16="http://schemas.microsoft.com/office/drawing/2014/main" id="{55367D7E-3882-A05C-9D21-1CBB282D374A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468313" y="333375"/>
            <a:ext cx="8448675" cy="1235075"/>
          </a:xfrm>
        </p:spPr>
        <p:txBody>
          <a:bodyPr rtlCol="0">
            <a:normAutofit fontScale="90000"/>
          </a:bodyPr>
          <a:lstStyle/>
          <a:p>
            <a:pPr>
              <a:spcAft>
                <a:spcPts val="0"/>
              </a:spcAft>
              <a:defRPr/>
            </a:pPr>
            <a:br>
              <a:rPr lang="es-CO" sz="4000">
                <a:solidFill>
                  <a:schemeClr val="accent5">
                    <a:lumMod val="75000"/>
                  </a:schemeClr>
                </a:solidFill>
                <a:latin typeface="Garamond"/>
              </a:rPr>
            </a:br>
            <a:r>
              <a:rPr lang="es-CO" sz="3600" b="1">
                <a:solidFill>
                  <a:schemeClr val="accent5">
                    <a:lumMod val="75000"/>
                  </a:schemeClr>
                </a:solidFill>
                <a:latin typeface="Garamond"/>
              </a:rPr>
              <a:t>PORCENTAJES DE EVALUACIÓN POR CORTE</a:t>
            </a:r>
            <a:br>
              <a:rPr lang="es-CO" sz="2400" b="1">
                <a:solidFill>
                  <a:schemeClr val="accent5">
                    <a:lumMod val="75000"/>
                  </a:schemeClr>
                </a:solidFill>
                <a:latin typeface="Garamond"/>
              </a:rPr>
            </a:br>
            <a:endParaRPr lang="es-CO" sz="2400">
              <a:solidFill>
                <a:schemeClr val="accent5">
                  <a:lumMod val="75000"/>
                </a:schemeClr>
              </a:solidFill>
              <a:latin typeface="Garamond"/>
            </a:endParaRPr>
          </a:p>
        </p:txBody>
      </p:sp>
      <p:sp>
        <p:nvSpPr>
          <p:cNvPr id="1649022720" name="Subtítulo 5">
            <a:extLst>
              <a:ext uri="{FF2B5EF4-FFF2-40B4-BE49-F238E27FC236}">
                <a16:creationId xmlns:a16="http://schemas.microsoft.com/office/drawing/2014/main" id="{DFEF6C31-41E7-BEBA-CCB8-8E1C410547BF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323849" y="1214488"/>
            <a:ext cx="8351838" cy="3455988"/>
          </a:xfrm>
        </p:spPr>
        <p:txBody>
          <a:bodyPr rtlCol="0">
            <a:noAutofit/>
          </a:bodyPr>
          <a:lstStyle/>
          <a:p>
            <a:pPr marL="342900" indent="-342900" algn="just">
              <a:spcAft>
                <a:spcPts val="0"/>
              </a:spcAft>
              <a:buFont typeface="Wingdings"/>
              <a:buChar char="Ø"/>
              <a:defRPr/>
            </a:pPr>
            <a:endParaRPr lang="es-CO" dirty="0">
              <a:solidFill>
                <a:srgbClr val="002060"/>
              </a:solidFill>
              <a:latin typeface="Garamond"/>
            </a:endParaRPr>
          </a:p>
          <a:p>
            <a:pPr marL="342900" indent="-342900" algn="just">
              <a:spcAft>
                <a:spcPts val="0"/>
              </a:spcAft>
              <a:buFont typeface="Wingdings"/>
              <a:buChar char="Ø"/>
              <a:defRPr/>
            </a:pPr>
            <a:r>
              <a:rPr lang="es-CO" sz="3600" dirty="0">
                <a:solidFill>
                  <a:srgbClr val="002060"/>
                </a:solidFill>
                <a:latin typeface="Garamond"/>
              </a:rPr>
              <a:t>Corte </a:t>
            </a:r>
            <a:r>
              <a:rPr lang="es-ES" sz="3600" dirty="0">
                <a:solidFill>
                  <a:srgbClr val="002060"/>
                </a:solidFill>
                <a:latin typeface="Garamond"/>
              </a:rPr>
              <a:t>2</a:t>
            </a:r>
            <a:r>
              <a:rPr lang="es-CO" sz="3600" dirty="0">
                <a:solidFill>
                  <a:srgbClr val="002060"/>
                </a:solidFill>
                <a:latin typeface="Garamond"/>
              </a:rPr>
              <a:t> (30%)</a:t>
            </a:r>
            <a:r>
              <a:rPr lang="es-ES" sz="3600" dirty="0">
                <a:solidFill>
                  <a:srgbClr val="002060"/>
                </a:solidFill>
                <a:latin typeface="Garamond"/>
              </a:rPr>
              <a:t>. Corte 3 (40%).</a:t>
            </a:r>
            <a:endParaRPr sz="3600" dirty="0"/>
          </a:p>
          <a:p>
            <a:pPr marL="800100" lvl="1" indent="-342900" algn="just">
              <a:spcAft>
                <a:spcPts val="0"/>
              </a:spcAft>
              <a:buFont typeface="Wingdings"/>
              <a:buChar char="ü"/>
              <a:defRPr/>
            </a:pPr>
            <a:r>
              <a:rPr lang="es-CO" sz="2800" dirty="0">
                <a:solidFill>
                  <a:srgbClr val="002060"/>
                </a:solidFill>
                <a:latin typeface="Garamond"/>
              </a:rPr>
              <a:t>Examen Parcial: (50 %). </a:t>
            </a:r>
          </a:p>
          <a:p>
            <a:pPr marL="1200150" lvl="2" indent="-342900" algn="just">
              <a:buFont typeface="Wingdings"/>
              <a:buChar char="ü"/>
              <a:defRPr/>
            </a:pPr>
            <a:r>
              <a:rPr lang="es-CO" sz="2400" dirty="0">
                <a:solidFill>
                  <a:srgbClr val="002060"/>
                </a:solidFill>
                <a:latin typeface="Garamond"/>
              </a:rPr>
              <a:t>Selección múltiple 4 preguntas y respuesta corta 2 preguntas (40%)</a:t>
            </a:r>
          </a:p>
          <a:p>
            <a:pPr marL="1200150" lvl="2" indent="-342900" algn="just">
              <a:buFont typeface="Wingdings"/>
              <a:buChar char="ü"/>
              <a:defRPr/>
            </a:pPr>
            <a:r>
              <a:rPr lang="es-CO" sz="2400" dirty="0">
                <a:solidFill>
                  <a:srgbClr val="002060"/>
                </a:solidFill>
                <a:latin typeface="Garamond"/>
              </a:rPr>
              <a:t>2 Preguntas abiertas (60%)</a:t>
            </a:r>
          </a:p>
          <a:p>
            <a:pPr lvl="1" algn="just">
              <a:spcAft>
                <a:spcPts val="0"/>
              </a:spcAft>
              <a:defRPr/>
            </a:pPr>
            <a:endParaRPr lang="es-CO" sz="2800" dirty="0">
              <a:solidFill>
                <a:srgbClr val="002060"/>
              </a:solidFill>
              <a:latin typeface="Garamond"/>
            </a:endParaRPr>
          </a:p>
          <a:p>
            <a:pPr marL="800100" lvl="1" indent="-342900" algn="just">
              <a:spcAft>
                <a:spcPts val="0"/>
              </a:spcAft>
              <a:buFont typeface="Wingdings"/>
              <a:buChar char="ü"/>
              <a:defRPr/>
            </a:pPr>
            <a:r>
              <a:rPr lang="es-ES" sz="2800" dirty="0">
                <a:solidFill>
                  <a:srgbClr val="002060"/>
                </a:solidFill>
                <a:latin typeface="Garamond"/>
              </a:rPr>
              <a:t>Actividades: (50%)</a:t>
            </a:r>
            <a:endParaRPr sz="3200" dirty="0"/>
          </a:p>
          <a:p>
            <a:pPr marL="1200150" lvl="2" indent="-342900" algn="just">
              <a:spcAft>
                <a:spcPts val="0"/>
              </a:spcAft>
              <a:buFont typeface="Wingdings"/>
              <a:buChar char="ü"/>
              <a:defRPr/>
            </a:pPr>
            <a:r>
              <a:rPr lang="es-ES" sz="2400" dirty="0" err="1">
                <a:solidFill>
                  <a:srgbClr val="002060"/>
                </a:solidFill>
                <a:latin typeface="Garamond"/>
              </a:rPr>
              <a:t>Quices</a:t>
            </a:r>
            <a:r>
              <a:rPr lang="es-ES" sz="2400" dirty="0">
                <a:solidFill>
                  <a:srgbClr val="002060"/>
                </a:solidFill>
                <a:latin typeface="Garamond"/>
              </a:rPr>
              <a:t> (20%)</a:t>
            </a:r>
            <a:endParaRPr sz="2800" dirty="0"/>
          </a:p>
          <a:p>
            <a:pPr marL="1200150" lvl="2" indent="-342900" algn="just">
              <a:buFont typeface="Wingdings"/>
              <a:buChar char="ü"/>
              <a:defRPr/>
            </a:pPr>
            <a:r>
              <a:rPr lang="es-ES" sz="2400" dirty="0">
                <a:solidFill>
                  <a:srgbClr val="002060"/>
                </a:solidFill>
                <a:latin typeface="Garamond"/>
              </a:rPr>
              <a:t>Proyecto (</a:t>
            </a:r>
            <a:r>
              <a:rPr lang="es-CO" sz="2400" dirty="0">
                <a:solidFill>
                  <a:srgbClr val="002060"/>
                </a:solidFill>
                <a:latin typeface="Garamond"/>
              </a:rPr>
              <a:t>30%)  (19% sustentación, 11% documento).</a:t>
            </a:r>
            <a:endParaRPr lang="es-CO" sz="1600" dirty="0">
              <a:solidFill>
                <a:srgbClr val="002060"/>
              </a:solidFill>
              <a:latin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2808041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5006016" name="Título 4"/>
          <p:cNvSpPr>
            <a:spLocks noGrp="1"/>
          </p:cNvSpPr>
          <p:nvPr>
            <p:ph type="ctrTitle"/>
          </p:nvPr>
        </p:nvSpPr>
        <p:spPr bwMode="auto">
          <a:xfrm>
            <a:off x="395288" y="404813"/>
            <a:ext cx="8448675" cy="730250"/>
          </a:xfrm>
        </p:spPr>
        <p:txBody>
          <a:bodyPr rtlCol="0">
            <a:normAutofit fontScale="90000"/>
          </a:bodyPr>
          <a:lstStyle/>
          <a:p>
            <a:pPr>
              <a:spcAft>
                <a:spcPts val="0"/>
              </a:spcAft>
              <a:defRPr/>
            </a:pPr>
            <a:br>
              <a:rPr lang="es-CO" sz="4000">
                <a:solidFill>
                  <a:schemeClr val="accent5">
                    <a:lumMod val="75000"/>
                  </a:schemeClr>
                </a:solidFill>
                <a:latin typeface="Garamond"/>
              </a:rPr>
            </a:br>
            <a:r>
              <a:rPr lang="es-CO" sz="3600" b="1">
                <a:solidFill>
                  <a:schemeClr val="accent5">
                    <a:lumMod val="75000"/>
                  </a:schemeClr>
                </a:solidFill>
                <a:latin typeface="Garamond"/>
              </a:rPr>
              <a:t>FECHAS DE EVALUACIÓN</a:t>
            </a:r>
            <a:br>
              <a:rPr lang="es-CO" sz="2400" b="1">
                <a:solidFill>
                  <a:schemeClr val="accent5">
                    <a:lumMod val="75000"/>
                  </a:schemeClr>
                </a:solidFill>
                <a:latin typeface="Garamond"/>
              </a:rPr>
            </a:br>
            <a:endParaRPr lang="es-CO" sz="2400">
              <a:solidFill>
                <a:schemeClr val="accent5">
                  <a:lumMod val="75000"/>
                </a:schemeClr>
              </a:solidFill>
              <a:latin typeface="Garamond"/>
            </a:endParaRPr>
          </a:p>
        </p:txBody>
      </p:sp>
      <p:sp>
        <p:nvSpPr>
          <p:cNvPr id="614756482" name="TextBox 344099585"/>
          <p:cNvSpPr txBox="1"/>
          <p:nvPr/>
        </p:nvSpPr>
        <p:spPr bwMode="auto">
          <a:xfrm>
            <a:off x="944278" y="1382956"/>
            <a:ext cx="7309325" cy="341651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83879" indent="-283879">
              <a:buFont typeface="Wingdings"/>
              <a:buChar char="Ø"/>
              <a:defRPr/>
            </a:pPr>
            <a:r>
              <a:rPr lang="es-ES" sz="2400" b="0" i="0" u="none" strike="noStrike" cap="none" spc="0" dirty="0">
                <a:solidFill>
                  <a:srgbClr val="002060"/>
                </a:solidFill>
                <a:latin typeface="Garamond"/>
                <a:ea typeface="Garamond"/>
                <a:cs typeface="Garamond"/>
              </a:rPr>
              <a:t>Primer examen: </a:t>
            </a:r>
            <a:r>
              <a:rPr lang="es-CO" sz="2400" b="0" i="0" u="none" strike="noStrike" cap="none" spc="0" dirty="0">
                <a:solidFill>
                  <a:srgbClr val="002060"/>
                </a:solidFill>
                <a:latin typeface="Garamond"/>
                <a:ea typeface="Garamond"/>
                <a:cs typeface="Garamond"/>
              </a:rPr>
              <a:t> </a:t>
            </a:r>
            <a:r>
              <a:rPr lang="es-ES" sz="2400" dirty="0">
                <a:solidFill>
                  <a:srgbClr val="002060"/>
                </a:solidFill>
                <a:latin typeface="Garamond"/>
                <a:ea typeface="Garamond"/>
                <a:cs typeface="Garamond"/>
              </a:rPr>
              <a:t>20</a:t>
            </a:r>
            <a:r>
              <a:rPr lang="es-ES" sz="2400" b="0" i="0" u="none" strike="noStrike" cap="none" spc="0" dirty="0">
                <a:solidFill>
                  <a:srgbClr val="002060"/>
                </a:solidFill>
                <a:latin typeface="Garamond"/>
                <a:ea typeface="Garamond"/>
                <a:cs typeface="Garamond"/>
              </a:rPr>
              <a:t> de agosto - 26 de agosto</a:t>
            </a:r>
          </a:p>
          <a:p>
            <a:pPr>
              <a:defRPr/>
            </a:pPr>
            <a:r>
              <a:rPr lang="es-ES" sz="2000" dirty="0">
                <a:solidFill>
                  <a:srgbClr val="002060"/>
                </a:solidFill>
                <a:latin typeface="Times New Roman"/>
                <a:cs typeface="Times New Roman"/>
              </a:rPr>
              <a:t>Examen (Jueves)</a:t>
            </a:r>
          </a:p>
          <a:p>
            <a:pPr>
              <a:defRPr/>
            </a:pPr>
            <a:endParaRPr lang="es-ES" sz="2400" b="0" i="0" u="none" strike="noStrike" cap="none" spc="0" dirty="0">
              <a:solidFill>
                <a:srgbClr val="002060"/>
              </a:solidFill>
              <a:latin typeface="Times New Roman"/>
              <a:cs typeface="Times New Roman"/>
            </a:endParaRPr>
          </a:p>
          <a:p>
            <a:pPr marL="283879" indent="-283879">
              <a:buFont typeface="Wingdings"/>
              <a:buChar char="Ø"/>
              <a:defRPr/>
            </a:pPr>
            <a:r>
              <a:rPr lang="es-ES" sz="2400" b="0" i="0" u="none" strike="noStrike" cap="none" spc="0" dirty="0">
                <a:solidFill>
                  <a:srgbClr val="002060"/>
                </a:solidFill>
                <a:latin typeface="Garamond"/>
                <a:ea typeface="Garamond"/>
                <a:cs typeface="Garamond"/>
              </a:rPr>
              <a:t>Segundo examen: 28 de septiembre - 6 de octubre</a:t>
            </a:r>
            <a:endParaRPr lang="es-ES" sz="2400" b="0" i="0" u="none" strike="noStrike" cap="none" spc="0" dirty="0">
              <a:solidFill>
                <a:srgbClr val="00206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s-ES" sz="2000" dirty="0">
                <a:solidFill>
                  <a:srgbClr val="002060"/>
                </a:solidFill>
                <a:latin typeface="Times New Roman"/>
                <a:cs typeface="Times New Roman"/>
              </a:rPr>
              <a:t>Anteproyecto (Martes) – Examen (Jueves)</a:t>
            </a:r>
          </a:p>
          <a:p>
            <a:pPr marL="283879" indent="-283879">
              <a:buFont typeface="Wingdings"/>
              <a:buChar char="Ø"/>
              <a:defRPr/>
            </a:pPr>
            <a:endParaRPr lang="es-ES" sz="2400" b="0" i="0" u="none" strike="noStrike" cap="none" spc="0" dirty="0">
              <a:solidFill>
                <a:srgbClr val="002060"/>
              </a:solidFill>
              <a:latin typeface="Times New Roman"/>
              <a:cs typeface="Times New Roman"/>
            </a:endParaRPr>
          </a:p>
          <a:p>
            <a:pPr marL="283879" indent="-283879">
              <a:buFont typeface="Wingdings"/>
              <a:buChar char="Ø"/>
              <a:defRPr/>
            </a:pPr>
            <a:r>
              <a:rPr lang="es-ES" sz="2400" b="0" i="0" u="none" strike="noStrike" cap="none" spc="0" dirty="0">
                <a:solidFill>
                  <a:srgbClr val="002060"/>
                </a:solidFill>
                <a:latin typeface="Garamond"/>
                <a:ea typeface="Garamond"/>
                <a:cs typeface="Garamond"/>
              </a:rPr>
              <a:t>Examen final: 17 de noviembre - 25 de noviembre</a:t>
            </a:r>
            <a:endParaRPr lang="es-ES" sz="2400" b="0" i="0" u="none" strike="noStrike" cap="none" spc="0" dirty="0">
              <a:solidFill>
                <a:srgbClr val="00206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s-ES" sz="2000" dirty="0">
                <a:solidFill>
                  <a:srgbClr val="002060"/>
                </a:solidFill>
                <a:latin typeface="Times New Roman"/>
                <a:cs typeface="Times New Roman"/>
              </a:rPr>
              <a:t>Proyecto (Martes) – Examen (Jueves)</a:t>
            </a:r>
          </a:p>
          <a:p>
            <a:pPr>
              <a:defRPr/>
            </a:pPr>
            <a:endParaRPr lang="es-ES" sz="2000" dirty="0"/>
          </a:p>
          <a:p>
            <a:pPr>
              <a:defRPr/>
            </a:pPr>
            <a:endParaRPr sz="2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65321" name="Título 4"/>
          <p:cNvSpPr>
            <a:spLocks noGrp="1"/>
          </p:cNvSpPr>
          <p:nvPr>
            <p:ph type="ctrTitle"/>
          </p:nvPr>
        </p:nvSpPr>
        <p:spPr bwMode="auto">
          <a:xfrm>
            <a:off x="468313" y="188640"/>
            <a:ext cx="8448675" cy="781323"/>
          </a:xfrm>
        </p:spPr>
        <p:txBody>
          <a:bodyPr rtlCol="0">
            <a:noAutofit/>
          </a:bodyPr>
          <a:lstStyle/>
          <a:p>
            <a:pPr>
              <a:spcAft>
                <a:spcPts val="0"/>
              </a:spcAft>
              <a:defRPr/>
            </a:pPr>
            <a:br>
              <a:rPr lang="es-CO" sz="3200">
                <a:solidFill>
                  <a:schemeClr val="accent5">
                    <a:lumMod val="75000"/>
                  </a:schemeClr>
                </a:solidFill>
                <a:latin typeface="Garamond"/>
              </a:rPr>
            </a:br>
            <a:r>
              <a:rPr lang="es-CO" sz="2800" b="1">
                <a:solidFill>
                  <a:schemeClr val="accent5">
                    <a:lumMod val="75000"/>
                  </a:schemeClr>
                </a:solidFill>
                <a:latin typeface="Garamond"/>
                <a:ea typeface="+mn-ea"/>
                <a:cs typeface="+mn-cs"/>
              </a:rPr>
              <a:t>PRESENTACIÓN QUICES - PRESENCIALES</a:t>
            </a:r>
            <a:br>
              <a:rPr lang="es-CO" sz="2000" b="1">
                <a:solidFill>
                  <a:schemeClr val="accent5">
                    <a:lumMod val="75000"/>
                  </a:schemeClr>
                </a:solidFill>
                <a:latin typeface="Garamond"/>
              </a:rPr>
            </a:br>
            <a:endParaRPr lang="es-CO" sz="2000">
              <a:solidFill>
                <a:schemeClr val="accent5">
                  <a:lumMod val="75000"/>
                </a:schemeClr>
              </a:solidFill>
              <a:latin typeface="Garamond"/>
            </a:endParaRPr>
          </a:p>
        </p:txBody>
      </p:sp>
      <p:sp>
        <p:nvSpPr>
          <p:cNvPr id="1550604699" name="Subtitle 2"/>
          <p:cNvSpPr>
            <a:spLocks noGrp="1"/>
          </p:cNvSpPr>
          <p:nvPr>
            <p:ph type="subTitle" idx="1"/>
          </p:nvPr>
        </p:nvSpPr>
        <p:spPr bwMode="auto">
          <a:xfrm>
            <a:off x="987302" y="1330691"/>
            <a:ext cx="6858000" cy="318452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342900" marR="0" lvl="0" indent="-342900" algn="just" defTabSz="914400" rtl="0">
              <a:lnSpc>
                <a:spcPct val="75000"/>
              </a:lnSpc>
              <a:spcBef>
                <a:spcPts val="999"/>
              </a:spcBef>
              <a:spcAft>
                <a:spcPts val="0"/>
              </a:spcAft>
              <a:buFont typeface="Wingdings"/>
              <a:buChar char="Ø"/>
              <a:defRPr lang="es-ES_tradnl" sz="24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lang="es-CO" sz="1600" b="0" i="0" u="none" strike="noStrike" cap="none" spc="0">
                <a:solidFill>
                  <a:srgbClr val="002060"/>
                </a:solidFill>
                <a:latin typeface="Asana Math"/>
                <a:ea typeface="Asana Math"/>
                <a:cs typeface="Asana Math"/>
              </a:rPr>
              <a:t>Virtuales</a:t>
            </a:r>
            <a:endParaRPr sz="1600">
              <a:latin typeface="Asana Math"/>
              <a:cs typeface="Asana Math"/>
            </a:endParaRPr>
          </a:p>
          <a:p>
            <a:pPr marL="800100" marR="0" lvl="1" indent="-342900" algn="just" defTabSz="914400" rtl="0">
              <a:lnSpc>
                <a:spcPct val="75000"/>
              </a:lnSpc>
              <a:spcBef>
                <a:spcPts val="499"/>
              </a:spcBef>
              <a:spcAft>
                <a:spcPts val="0"/>
              </a:spcAft>
              <a:buFont typeface="Wingdings"/>
              <a:buChar char="Ø"/>
              <a:defRPr lang="es-ES_tradnl" sz="20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lang="es-CO" sz="1600" b="0" i="0" u="none" strike="noStrike" cap="none" spc="0">
                <a:solidFill>
                  <a:srgbClr val="002060"/>
                </a:solidFill>
                <a:latin typeface="Asana Math"/>
                <a:ea typeface="Asana Math"/>
                <a:cs typeface="Asana Math"/>
              </a:rPr>
              <a:t>Serán anunciados con anticipación </a:t>
            </a:r>
            <a:endParaRPr sz="1600">
              <a:latin typeface="Asana Math"/>
              <a:cs typeface="Asana Math"/>
            </a:endParaRPr>
          </a:p>
          <a:p>
            <a:pPr marL="800100" marR="0" lvl="1" indent="-342900" algn="just" defTabSz="914400" rtl="0">
              <a:lnSpc>
                <a:spcPct val="75000"/>
              </a:lnSpc>
              <a:spcBef>
                <a:spcPts val="499"/>
              </a:spcBef>
              <a:spcAft>
                <a:spcPts val="0"/>
              </a:spcAft>
              <a:buFont typeface="Wingdings"/>
              <a:buChar char="Ø"/>
              <a:defRPr lang="es-ES_tradnl" sz="20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lang="es-CO" sz="1600" b="0" i="0" u="none" strike="noStrike" cap="none" spc="0">
                <a:solidFill>
                  <a:srgbClr val="002060"/>
                </a:solidFill>
                <a:latin typeface="Asana Math"/>
                <a:ea typeface="Asana Math"/>
                <a:cs typeface="Asana Math"/>
              </a:rPr>
              <a:t>Debe contar con un computador de la Universidad de La Sabana</a:t>
            </a:r>
            <a:endParaRPr sz="1600">
              <a:latin typeface="Asana Math"/>
              <a:cs typeface="Asana Math"/>
            </a:endParaRPr>
          </a:p>
          <a:p>
            <a:pPr marL="800100" marR="0" lvl="1" indent="-342900" algn="just" defTabSz="914400" rtl="0">
              <a:lnSpc>
                <a:spcPct val="75000"/>
              </a:lnSpc>
              <a:spcBef>
                <a:spcPts val="499"/>
              </a:spcBef>
              <a:spcAft>
                <a:spcPts val="0"/>
              </a:spcAft>
              <a:buFont typeface="Wingdings"/>
              <a:buChar char="Ø"/>
              <a:defRPr lang="es-ES_tradnl" sz="20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lang="es-CO" sz="1600" b="0" i="0" u="none" strike="noStrike" cap="none" spc="0">
                <a:solidFill>
                  <a:srgbClr val="002060"/>
                </a:solidFill>
                <a:latin typeface="Asana Math"/>
                <a:ea typeface="Asana Math"/>
                <a:cs typeface="Asana Math"/>
              </a:rPr>
              <a:t>Calculadora no programable.</a:t>
            </a:r>
            <a:endParaRPr sz="1600">
              <a:latin typeface="Asana Math"/>
              <a:cs typeface="Asana Math"/>
            </a:endParaRPr>
          </a:p>
          <a:p>
            <a:pPr marL="800100" marR="0" lvl="1" indent="-342900" algn="just" defTabSz="914400" rtl="0">
              <a:lnSpc>
                <a:spcPct val="75000"/>
              </a:lnSpc>
              <a:spcBef>
                <a:spcPts val="499"/>
              </a:spcBef>
              <a:spcAft>
                <a:spcPts val="0"/>
              </a:spcAft>
              <a:buFont typeface="Wingdings"/>
              <a:buChar char="Ø"/>
              <a:defRPr lang="es-ES_tradnl" sz="20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lang="es-CO" sz="1600" b="0" i="0" u="none" strike="noStrike" cap="none" spc="0">
                <a:solidFill>
                  <a:srgbClr val="002060"/>
                </a:solidFill>
                <a:latin typeface="Asana Math"/>
                <a:ea typeface="Asana Math"/>
                <a:cs typeface="Asana Math"/>
              </a:rPr>
              <a:t>No uso de teléfonos móviles, Tablet, relojes inteligentes, etc.</a:t>
            </a:r>
            <a:endParaRPr sz="1600">
              <a:latin typeface="Asana Math"/>
              <a:cs typeface="Asana Math"/>
            </a:endParaRPr>
          </a:p>
          <a:p>
            <a:pPr marL="457200" marR="0" lvl="1" indent="0" algn="just" defTabSz="914400" rtl="0">
              <a:lnSpc>
                <a:spcPct val="75000"/>
              </a:lnSpc>
              <a:spcBef>
                <a:spcPts val="499"/>
              </a:spcBef>
              <a:spcAft>
                <a:spcPts val="0"/>
              </a:spcAft>
              <a:buFont typeface="Arial"/>
              <a:buNone/>
              <a:defRPr lang="es-ES_tradnl" sz="20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endParaRPr sz="1600">
              <a:solidFill>
                <a:srgbClr val="002060"/>
              </a:solidFill>
              <a:latin typeface="Asana Math"/>
              <a:cs typeface="Asana Math"/>
            </a:endParaRPr>
          </a:p>
          <a:p>
            <a:pPr marL="342900" marR="0" lvl="0" indent="-342900" algn="just" defTabSz="914400" rtl="0">
              <a:lnSpc>
                <a:spcPct val="75000"/>
              </a:lnSpc>
              <a:spcBef>
                <a:spcPts val="999"/>
              </a:spcBef>
              <a:spcAft>
                <a:spcPts val="0"/>
              </a:spcAft>
              <a:buFont typeface="Wingdings"/>
              <a:buChar char="Ø"/>
              <a:defRPr lang="es-ES_tradnl" sz="24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lang="es-CO" sz="1600" b="0" i="0" u="none" strike="noStrike" cap="none" spc="0">
                <a:solidFill>
                  <a:srgbClr val="002060"/>
                </a:solidFill>
                <a:latin typeface="Asana Math"/>
                <a:ea typeface="Asana Math"/>
                <a:cs typeface="Asana Math"/>
              </a:rPr>
              <a:t>Escritos</a:t>
            </a:r>
            <a:endParaRPr sz="1600">
              <a:latin typeface="Asana Math"/>
              <a:cs typeface="Asana Math"/>
            </a:endParaRPr>
          </a:p>
          <a:p>
            <a:pPr marL="800100" marR="0" lvl="1" indent="-342900" algn="just" defTabSz="914400" rtl="0">
              <a:lnSpc>
                <a:spcPct val="75000"/>
              </a:lnSpc>
              <a:spcBef>
                <a:spcPts val="499"/>
              </a:spcBef>
              <a:spcAft>
                <a:spcPts val="0"/>
              </a:spcAft>
              <a:buFont typeface="Wingdings"/>
              <a:buChar char="Ø"/>
              <a:defRPr lang="es-ES_tradnl" sz="20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lang="es-CO" sz="1600" b="0" i="0" u="none" strike="noStrike" cap="none" spc="0">
                <a:solidFill>
                  <a:srgbClr val="002060"/>
                </a:solidFill>
                <a:latin typeface="Asana Math"/>
                <a:ea typeface="Asana Math"/>
                <a:cs typeface="Asana Math"/>
              </a:rPr>
              <a:t>No Serán anunciados con anticipación. </a:t>
            </a:r>
            <a:endParaRPr sz="1600">
              <a:latin typeface="Asana Math"/>
              <a:cs typeface="Asana Math"/>
            </a:endParaRPr>
          </a:p>
          <a:p>
            <a:pPr marL="800100" marR="0" lvl="1" indent="-342900" algn="just" defTabSz="914400" rtl="0">
              <a:lnSpc>
                <a:spcPct val="75000"/>
              </a:lnSpc>
              <a:spcBef>
                <a:spcPts val="499"/>
              </a:spcBef>
              <a:spcAft>
                <a:spcPts val="0"/>
              </a:spcAft>
              <a:buFont typeface="Wingdings"/>
              <a:buChar char="Ø"/>
              <a:defRPr lang="es-ES_tradnl" sz="20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lang="es-CO" sz="1600" b="0" i="0" u="none" strike="noStrike" cap="none" spc="0">
                <a:solidFill>
                  <a:srgbClr val="002060"/>
                </a:solidFill>
                <a:latin typeface="Asana Math"/>
                <a:ea typeface="Asana Math"/>
                <a:cs typeface="Asana Math"/>
              </a:rPr>
              <a:t>Calculadora no programable.</a:t>
            </a:r>
            <a:r>
              <a:rPr lang="es-ES" sz="1600" b="0" i="0" u="none" strike="noStrike" cap="none" spc="0">
                <a:solidFill>
                  <a:srgbClr val="002060"/>
                </a:solidFill>
                <a:latin typeface="Asana Math"/>
                <a:ea typeface="Asana Math"/>
                <a:cs typeface="Asana Math"/>
              </a:rPr>
              <a:t> </a:t>
            </a:r>
            <a:endParaRPr/>
          </a:p>
          <a:p>
            <a:pPr marL="800100" marR="0" lvl="1" indent="-342900" algn="just" defTabSz="914400" rtl="0">
              <a:lnSpc>
                <a:spcPct val="75000"/>
              </a:lnSpc>
              <a:spcBef>
                <a:spcPts val="499"/>
              </a:spcBef>
              <a:spcAft>
                <a:spcPts val="0"/>
              </a:spcAft>
              <a:buFont typeface="Wingdings"/>
              <a:buChar char="Ø"/>
              <a:defRPr lang="es-ES_tradnl" sz="20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lang="es-CO" sz="1600" b="0" i="0" u="none" strike="noStrike" cap="none" spc="0">
                <a:solidFill>
                  <a:srgbClr val="002060"/>
                </a:solidFill>
                <a:latin typeface="Asana Math"/>
                <a:ea typeface="Asana Math"/>
                <a:cs typeface="Asana Math"/>
              </a:rPr>
              <a:t>No uso de teléfonos móviles, Tablet, relojes inteligentes, etc.</a:t>
            </a:r>
            <a:endParaRPr sz="1600">
              <a:latin typeface="Asana Math"/>
              <a:cs typeface="Asana Math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57301" name="1 Título"/>
          <p:cNvSpPr txBox="1"/>
          <p:nvPr/>
        </p:nvSpPr>
        <p:spPr bwMode="auto">
          <a:xfrm>
            <a:off x="360362" y="260648"/>
            <a:ext cx="8423275" cy="11792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defTabSz="4572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s-CO" sz="2400" b="1">
                <a:solidFill>
                  <a:srgbClr val="002060"/>
                </a:solidFill>
                <a:latin typeface="Garamond"/>
              </a:rPr>
              <a:t>REGLAS ELEMENTALES DURANTE EL DESARROLLO DE UN EXAMEN PARCIAL O FINAL </a:t>
            </a:r>
            <a:endParaRPr/>
          </a:p>
        </p:txBody>
      </p:sp>
      <p:sp>
        <p:nvSpPr>
          <p:cNvPr id="563914818" name="Rectángulo 2"/>
          <p:cNvSpPr>
            <a:spLocks noChangeArrowheads="1"/>
          </p:cNvSpPr>
          <p:nvPr/>
        </p:nvSpPr>
        <p:spPr bwMode="auto">
          <a:xfrm>
            <a:off x="251520" y="1344236"/>
            <a:ext cx="8424863" cy="293535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marL="342900" indent="-342900">
              <a:buFont typeface="Wingdings"/>
              <a:buChar char="ü"/>
              <a:defRPr/>
            </a:pPr>
            <a:r>
              <a:rPr lang="es-MX" sz="2400">
                <a:solidFill>
                  <a:srgbClr val="002060"/>
                </a:solidFill>
                <a:latin typeface="Garamond"/>
              </a:rPr>
              <a:t>La modalidad es presencial e individual.</a:t>
            </a:r>
            <a:endParaRPr/>
          </a:p>
          <a:p>
            <a:pPr marL="342900" indent="-342900">
              <a:buFont typeface="Wingdings"/>
              <a:buChar char="ü"/>
              <a:defRPr/>
            </a:pPr>
            <a:r>
              <a:rPr lang="es-MX" sz="2400">
                <a:solidFill>
                  <a:srgbClr val="002060"/>
                </a:solidFill>
                <a:latin typeface="Garamond"/>
              </a:rPr>
              <a:t>Uso permitido de calculadora no programable.</a:t>
            </a:r>
            <a:endParaRPr/>
          </a:p>
          <a:p>
            <a:pPr marL="342900" indent="-342900">
              <a:buFont typeface="Wingdings"/>
              <a:buChar char="ü"/>
              <a:defRPr/>
            </a:pPr>
            <a:r>
              <a:rPr lang="es-MX" sz="2400">
                <a:solidFill>
                  <a:srgbClr val="002060"/>
                </a:solidFill>
                <a:latin typeface="Garamond"/>
              </a:rPr>
              <a:t>Exámenes solo en fechas asignadas.</a:t>
            </a:r>
            <a:endParaRPr/>
          </a:p>
          <a:p>
            <a:pPr marL="342900" indent="-342900">
              <a:buFont typeface="Wingdings"/>
              <a:buChar char="ü"/>
              <a:defRPr/>
            </a:pPr>
            <a:r>
              <a:rPr lang="es-MX" sz="2400">
                <a:solidFill>
                  <a:srgbClr val="002060"/>
                </a:solidFill>
                <a:latin typeface="Garamond"/>
              </a:rPr>
              <a:t>La parte virtual se desarrollará en Sabana Plus.</a:t>
            </a:r>
            <a:endParaRPr/>
          </a:p>
          <a:p>
            <a:pPr marL="342900" indent="-342900">
              <a:buFont typeface="Wingdings"/>
              <a:buChar char="ü"/>
              <a:defRPr/>
            </a:pPr>
            <a:r>
              <a:rPr lang="es-MX" sz="2400">
                <a:solidFill>
                  <a:srgbClr val="002060"/>
                </a:solidFill>
                <a:latin typeface="Garamond"/>
              </a:rPr>
              <a:t>El teléfono celular solo podrá usarse para acreditaciones requeridas por el aula virtual. En cualquier otro caso, debe permanecer guardado en la maleta o bolso.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4435634" name="1 Título"/>
          <p:cNvSpPr txBox="1"/>
          <p:nvPr/>
        </p:nvSpPr>
        <p:spPr bwMode="auto">
          <a:xfrm>
            <a:off x="360362" y="192980"/>
            <a:ext cx="8423275" cy="935807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defTabSz="4572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s-CO" sz="2400" b="1">
                <a:solidFill>
                  <a:srgbClr val="002060"/>
                </a:solidFill>
                <a:latin typeface="Garamond"/>
              </a:rPr>
              <a:t>REGLAS ELEMENTALES DURANTE EL DESARROLLO DE UN EXAMEN PARCIAL O FINAL </a:t>
            </a:r>
            <a:endParaRPr/>
          </a:p>
        </p:txBody>
      </p:sp>
      <p:sp>
        <p:nvSpPr>
          <p:cNvPr id="1676447196" name="Rectángulo 2"/>
          <p:cNvSpPr>
            <a:spLocks noChangeArrowheads="1"/>
          </p:cNvSpPr>
          <p:nvPr/>
        </p:nvSpPr>
        <p:spPr bwMode="auto">
          <a:xfrm>
            <a:off x="202359" y="1823320"/>
            <a:ext cx="8424863" cy="289925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lvl="1" algn="just">
              <a:lnSpc>
                <a:spcPct val="100000"/>
              </a:lnSpc>
              <a:spcBef>
                <a:spcPts val="0"/>
              </a:spcBef>
              <a:buFont typeface="Wingdings"/>
              <a:buChar char="ü"/>
              <a:defRPr/>
            </a:pPr>
            <a:r>
              <a:rPr lang="es-MX">
                <a:solidFill>
                  <a:srgbClr val="002060"/>
                </a:solidFill>
                <a:latin typeface="Garamond"/>
              </a:rPr>
              <a:t>Si el docente observa un teléfono celular en el entorno del estudiante, el examen será anulado y la calificación será 0.0</a:t>
            </a:r>
            <a:endParaRPr lang="es-CO">
              <a:solidFill>
                <a:srgbClr val="002060"/>
              </a:solidFill>
              <a:latin typeface="Garamond"/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  <a:buFont typeface="Wingdings"/>
              <a:buChar char="ü"/>
              <a:defRPr/>
            </a:pPr>
            <a:r>
              <a:rPr lang="es-MX">
                <a:solidFill>
                  <a:srgbClr val="002060"/>
                </a:solidFill>
                <a:latin typeface="Garamond"/>
              </a:rPr>
              <a:t>No está permitido contestar llamadas durante el examen. Si el estudiante insiste, deberá entregar el examen y retirarse.</a:t>
            </a:r>
            <a:endParaRPr lang="es-CO">
              <a:solidFill>
                <a:srgbClr val="002060"/>
              </a:solidFill>
              <a:latin typeface="Garamond"/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  <a:buFont typeface="Wingdings"/>
              <a:buChar char="ü"/>
              <a:defRPr/>
            </a:pPr>
            <a:r>
              <a:rPr lang="es-MX">
                <a:solidFill>
                  <a:srgbClr val="002060"/>
                </a:solidFill>
                <a:latin typeface="Garamond"/>
              </a:rPr>
              <a:t>No se permite salir al baño durante el examen. Si el estudiante insiste, también deberá entregar el examen y retirarse.</a:t>
            </a:r>
            <a:endParaRPr/>
          </a:p>
          <a:p>
            <a:pPr lvl="1" algn="just">
              <a:lnSpc>
                <a:spcPct val="100000"/>
              </a:lnSpc>
              <a:spcBef>
                <a:spcPts val="0"/>
              </a:spcBef>
              <a:buFont typeface="Wingdings"/>
              <a:buChar char="ü"/>
              <a:defRPr/>
            </a:pPr>
            <a:endParaRPr lang="es-CO">
              <a:solidFill>
                <a:srgbClr val="002060"/>
              </a:solidFill>
              <a:latin typeface="Garamon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195906" name="Rectángulo 2"/>
          <p:cNvSpPr>
            <a:spLocks noChangeArrowheads="1"/>
          </p:cNvSpPr>
          <p:nvPr/>
        </p:nvSpPr>
        <p:spPr bwMode="auto">
          <a:xfrm>
            <a:off x="156665" y="1152158"/>
            <a:ext cx="8424863" cy="294234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endParaRPr lang="es-CO" sz="2200">
              <a:solidFill>
                <a:srgbClr val="002060"/>
              </a:solidFill>
              <a:latin typeface="Garamond"/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  <a:buFont typeface="Wingdings"/>
              <a:buChar char="ü"/>
              <a:defRPr/>
            </a:pPr>
            <a:r>
              <a:rPr lang="es-MX">
                <a:solidFill>
                  <a:srgbClr val="002060"/>
                </a:solidFill>
                <a:latin typeface="Garamond"/>
              </a:rPr>
              <a:t>Pasados 15 minutos desde el inicio del examen, no se permitirá el ingreso de estudiantes al salón ni la presentación del examen.</a:t>
            </a:r>
            <a:endParaRPr/>
          </a:p>
          <a:p>
            <a:pPr lvl="1" algn="just">
              <a:lnSpc>
                <a:spcPct val="100000"/>
              </a:lnSpc>
              <a:spcBef>
                <a:spcPts val="0"/>
              </a:spcBef>
              <a:buFont typeface="Wingdings"/>
              <a:buChar char="ü"/>
              <a:defRPr/>
            </a:pPr>
            <a:r>
              <a:rPr lang="es-MX">
                <a:solidFill>
                  <a:srgbClr val="002060"/>
                </a:solidFill>
                <a:latin typeface="Garamond"/>
              </a:rPr>
              <a:t>En caso de llegar tarde, el estudiante deberá solicitar un examen supletorio ante la Facultad correspondiente.</a:t>
            </a:r>
            <a:endParaRPr/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s-MX">
              <a:solidFill>
                <a:srgbClr val="002060"/>
              </a:solidFill>
              <a:latin typeface="Garamond"/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  <a:buFont typeface="Wingdings"/>
              <a:buChar char="ü"/>
              <a:defRPr/>
            </a:pPr>
            <a:endParaRPr lang="es-CO">
              <a:solidFill>
                <a:srgbClr val="002060"/>
              </a:solidFill>
              <a:latin typeface="Garamond"/>
            </a:endParaRPr>
          </a:p>
        </p:txBody>
      </p:sp>
      <p:sp>
        <p:nvSpPr>
          <p:cNvPr id="137785602" name="1 Título"/>
          <p:cNvSpPr txBox="1"/>
          <p:nvPr/>
        </p:nvSpPr>
        <p:spPr bwMode="auto">
          <a:xfrm>
            <a:off x="544790" y="116632"/>
            <a:ext cx="8423275" cy="11792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defTabSz="4572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s-CO" sz="2400" b="1">
                <a:solidFill>
                  <a:srgbClr val="002060"/>
                </a:solidFill>
                <a:latin typeface="Garamond"/>
              </a:rPr>
              <a:t>REGLAS ELEMENTALES DURANTE EL DESARROLLO DE UN EXAMEN PARCIAL O FINAL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783862" name="1 Título"/>
          <p:cNvSpPr txBox="1"/>
          <p:nvPr/>
        </p:nvSpPr>
        <p:spPr bwMode="auto">
          <a:xfrm>
            <a:off x="544790" y="116632"/>
            <a:ext cx="8423275" cy="11792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defTabSz="4572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s-CO" sz="2400" b="1">
                <a:solidFill>
                  <a:srgbClr val="002060"/>
                </a:solidFill>
                <a:latin typeface="Garamond"/>
              </a:rPr>
              <a:t>REGLAS ELEMENTALES DURANTE EL DESARROLLO DE UN EXAMEN PARCIAL O FINAL </a:t>
            </a:r>
            <a:endParaRPr/>
          </a:p>
        </p:txBody>
      </p:sp>
      <p:sp>
        <p:nvSpPr>
          <p:cNvPr id="1760740863" name="Rectángulo 2"/>
          <p:cNvSpPr>
            <a:spLocks noChangeArrowheads="1"/>
          </p:cNvSpPr>
          <p:nvPr/>
        </p:nvSpPr>
        <p:spPr bwMode="auto">
          <a:xfrm>
            <a:off x="530627" y="1295846"/>
            <a:ext cx="8424862" cy="368511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endParaRPr lang="es-CO" sz="2000">
              <a:solidFill>
                <a:srgbClr val="002060"/>
              </a:solidFill>
              <a:latin typeface="Garamond"/>
            </a:endParaRPr>
          </a:p>
          <a:p>
            <a:pPr marL="342900" indent="-342900">
              <a:buFont typeface="Wingdings"/>
              <a:buChar char="ü"/>
              <a:defRPr/>
            </a:pPr>
            <a:r>
              <a:rPr lang="es-MX" sz="2400">
                <a:solidFill>
                  <a:srgbClr val="002060"/>
                </a:solidFill>
                <a:latin typeface="Garamond"/>
              </a:rPr>
              <a:t>En caso de considerarlo necesario, el docente podrá solicitar al estudiante una sustentación oral de los procedimientos realizados en su examen.</a:t>
            </a:r>
            <a:endParaRPr/>
          </a:p>
          <a:p>
            <a:pPr marL="342900" indent="-342900">
              <a:buFont typeface="Wingdings"/>
              <a:buChar char="ü"/>
              <a:defRPr/>
            </a:pPr>
            <a:r>
              <a:rPr lang="es-MX" sz="2400">
                <a:solidFill>
                  <a:srgbClr val="002060"/>
                </a:solidFill>
                <a:latin typeface="Garamond"/>
              </a:rPr>
              <a:t>Si el estudiante no demuestra dominio y comprensión clara de lo que escribió, el examen será anulado y se iniciará un proceso disciplinario por presunto fraude académico ante la Facultad. Esto conllevará una calificación de cero (0.0) en la evaluación correspondiente.</a:t>
            </a:r>
            <a:endParaRPr/>
          </a:p>
          <a:p>
            <a:pPr lvl="1" algn="just">
              <a:lnSpc>
                <a:spcPct val="100000"/>
              </a:lnSpc>
              <a:spcBef>
                <a:spcPts val="0"/>
              </a:spcBef>
              <a:buFont typeface="Wingdings"/>
              <a:buChar char="ü"/>
              <a:defRPr/>
            </a:pPr>
            <a:endParaRPr lang="es-CO" sz="2000">
              <a:solidFill>
                <a:srgbClr val="002060"/>
              </a:solidFill>
              <a:latin typeface="Garamon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129319" name="1 Título"/>
          <p:cNvSpPr txBox="1"/>
          <p:nvPr/>
        </p:nvSpPr>
        <p:spPr bwMode="auto">
          <a:xfrm>
            <a:off x="360362" y="15920"/>
            <a:ext cx="8423275" cy="14398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defTabSz="4572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s-CO" sz="2400" b="1">
                <a:solidFill>
                  <a:srgbClr val="002060"/>
                </a:solidFill>
                <a:latin typeface="Garamond"/>
              </a:rPr>
              <a:t>REGLAS PARA LA ENTREGA DE TRABAJOS O INFORMES ESCRITOS DESPUÉS DE LA FECHA ESTIPULADA</a:t>
            </a:r>
            <a:endParaRPr/>
          </a:p>
        </p:txBody>
      </p:sp>
      <p:sp>
        <p:nvSpPr>
          <p:cNvPr id="2009715111" name="CuadroTexto 2"/>
          <p:cNvSpPr txBox="1"/>
          <p:nvPr/>
        </p:nvSpPr>
        <p:spPr bwMode="auto">
          <a:xfrm>
            <a:off x="539552" y="1790090"/>
            <a:ext cx="8244085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300"/>
              </a:spcBef>
              <a:spcAft>
                <a:spcPts val="300"/>
              </a:spcAft>
              <a:buFont typeface="Wingdings"/>
              <a:buChar char="ü"/>
              <a:defRPr/>
            </a:pPr>
            <a:r>
              <a:rPr lang="es-MX" sz="2400">
                <a:solidFill>
                  <a:srgbClr val="002060"/>
                </a:solidFill>
                <a:latin typeface="Garamond"/>
              </a:rPr>
              <a:t>Si el trabajo se entrega hasta 15 minutos después del plazo, la nota máxima será 4.0.</a:t>
            </a:r>
            <a:endParaRPr/>
          </a:p>
          <a:p>
            <a:pPr marL="342900" indent="-342900" algn="l">
              <a:spcBef>
                <a:spcPts val="300"/>
              </a:spcBef>
              <a:spcAft>
                <a:spcPts val="300"/>
              </a:spcAft>
              <a:buFont typeface="Wingdings"/>
              <a:buChar char="ü"/>
              <a:defRPr/>
            </a:pPr>
            <a:r>
              <a:rPr lang="es-MX" sz="2400">
                <a:solidFill>
                  <a:srgbClr val="002060"/>
                </a:solidFill>
                <a:latin typeface="Garamond"/>
              </a:rPr>
              <a:t>Si se entrega después de ese tiempo, la calificación será 0.0.</a:t>
            </a:r>
            <a:endParaRPr/>
          </a:p>
          <a:p>
            <a:pPr marL="342900" indent="-342900" algn="l">
              <a:spcBef>
                <a:spcPts val="300"/>
              </a:spcBef>
              <a:spcAft>
                <a:spcPts val="300"/>
              </a:spcAft>
              <a:buFont typeface="Wingdings"/>
              <a:buChar char="ü"/>
              <a:defRPr/>
            </a:pPr>
            <a:r>
              <a:rPr lang="es-MX" sz="2400">
                <a:solidFill>
                  <a:srgbClr val="002060"/>
                </a:solidFill>
                <a:latin typeface="Garamond"/>
              </a:rPr>
              <a:t>Si el archivo entregado no cumple con el formato indicado, está en blanco, no puede abrirse o no puede descargarse, la calificación será 0.0 sin excepción.</a:t>
            </a:r>
            <a:endParaRPr/>
          </a:p>
          <a:p>
            <a:pPr marL="342900" indent="-342900" algn="l">
              <a:spcBef>
                <a:spcPts val="300"/>
              </a:spcBef>
              <a:spcAft>
                <a:spcPts val="300"/>
              </a:spcAft>
              <a:buFont typeface="Wingdings"/>
              <a:buChar char="ü"/>
              <a:defRPr/>
            </a:pPr>
            <a:r>
              <a:rPr lang="es-MX" sz="2400">
                <a:solidFill>
                  <a:srgbClr val="002060"/>
                </a:solidFill>
                <a:latin typeface="Garamond"/>
              </a:rPr>
              <a:t>El profesor informará con anticipación la fecha límite y las condiciones de entrega.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080655" name="1 Título"/>
          <p:cNvSpPr>
            <a:spLocks noGrp="1"/>
          </p:cNvSpPr>
          <p:nvPr>
            <p:ph type="ctrTitle"/>
          </p:nvPr>
        </p:nvSpPr>
        <p:spPr bwMode="auto"/>
        <p:txBody>
          <a:bodyPr anchor="ctr"/>
          <a:lstStyle/>
          <a:p>
            <a:pPr defTabSz="457200">
              <a:lnSpc>
                <a:spcPct val="100000"/>
              </a:lnSpc>
              <a:defRPr/>
            </a:pPr>
            <a:r>
              <a:rPr lang="es-CO" sz="4800" b="1">
                <a:solidFill>
                  <a:schemeClr val="accent5">
                    <a:lumMod val="75000"/>
                  </a:schemeClr>
                </a:solidFill>
                <a:latin typeface="Garamond"/>
              </a:rPr>
              <a:t>REGLAS ELEMENTALES DE CONVIVENCIA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2577916" name="Rectángulo 2"/>
          <p:cNvSpPr>
            <a:spLocks noChangeArrowheads="1"/>
          </p:cNvSpPr>
          <p:nvPr/>
        </p:nvSpPr>
        <p:spPr bwMode="auto">
          <a:xfrm>
            <a:off x="214311" y="1556791"/>
            <a:ext cx="8773334" cy="356245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marL="342900" indent="-342900">
              <a:buFont typeface="Wingdings"/>
              <a:buChar char="ü"/>
              <a:defRPr/>
            </a:pPr>
            <a:r>
              <a:rPr lang="es-MX" sz="2400">
                <a:solidFill>
                  <a:srgbClr val="002060"/>
                </a:solidFill>
                <a:latin typeface="Garamond"/>
              </a:rPr>
              <a:t>Trata</a:t>
            </a:r>
            <a:r>
              <a:rPr lang="es-ES" sz="2400">
                <a:solidFill>
                  <a:srgbClr val="002060"/>
                </a:solidFill>
                <a:latin typeface="Garamond"/>
              </a:rPr>
              <a:t>r</a:t>
            </a:r>
            <a:r>
              <a:rPr lang="es-MX" sz="2400">
                <a:solidFill>
                  <a:srgbClr val="002060"/>
                </a:solidFill>
                <a:latin typeface="Garamond"/>
              </a:rPr>
              <a:t> a todos con respeto y dignidad en todo momento.</a:t>
            </a:r>
            <a:endParaRPr/>
          </a:p>
          <a:p>
            <a:pPr marL="342900" indent="-342900">
              <a:buFont typeface="Wingdings"/>
              <a:buChar char="ü"/>
              <a:defRPr/>
            </a:pPr>
            <a:r>
              <a:rPr lang="es-MX" sz="2400">
                <a:solidFill>
                  <a:srgbClr val="002060"/>
                </a:solidFill>
                <a:latin typeface="Garamond"/>
              </a:rPr>
              <a:t>Si </a:t>
            </a:r>
            <a:r>
              <a:rPr lang="es-ES" sz="2400">
                <a:solidFill>
                  <a:srgbClr val="002060"/>
                </a:solidFill>
                <a:latin typeface="Garamond"/>
              </a:rPr>
              <a:t>se </a:t>
            </a:r>
            <a:r>
              <a:rPr lang="es-MX" sz="2400">
                <a:solidFill>
                  <a:srgbClr val="002060"/>
                </a:solidFill>
                <a:latin typeface="Garamond"/>
              </a:rPr>
              <a:t>llega tarde, </a:t>
            </a:r>
            <a:r>
              <a:rPr lang="es-ES" sz="2400">
                <a:solidFill>
                  <a:srgbClr val="002060"/>
                </a:solidFill>
                <a:latin typeface="Garamond"/>
              </a:rPr>
              <a:t>se debe </a:t>
            </a:r>
            <a:r>
              <a:rPr lang="es-MX" sz="2400">
                <a:solidFill>
                  <a:srgbClr val="002060"/>
                </a:solidFill>
                <a:latin typeface="Garamond"/>
              </a:rPr>
              <a:t>solicita</a:t>
            </a:r>
            <a:r>
              <a:rPr lang="es-ES" sz="2400">
                <a:solidFill>
                  <a:srgbClr val="002060"/>
                </a:solidFill>
                <a:latin typeface="Garamond"/>
              </a:rPr>
              <a:t>r</a:t>
            </a:r>
            <a:r>
              <a:rPr lang="es-MX" sz="2400">
                <a:solidFill>
                  <a:srgbClr val="002060"/>
                </a:solidFill>
                <a:latin typeface="Garamond"/>
              </a:rPr>
              <a:t> permiso al docente antes de ingresar al salón.</a:t>
            </a:r>
            <a:endParaRPr/>
          </a:p>
          <a:p>
            <a:pPr marL="342900" indent="-342900">
              <a:buFont typeface="Wingdings"/>
              <a:buChar char="ü"/>
              <a:defRPr/>
            </a:pPr>
            <a:r>
              <a:rPr lang="es-MX" sz="2400">
                <a:solidFill>
                  <a:srgbClr val="002060"/>
                </a:solidFill>
                <a:latin typeface="Garamond"/>
              </a:rPr>
              <a:t>No </a:t>
            </a:r>
            <a:r>
              <a:rPr lang="es-ES" sz="2400">
                <a:solidFill>
                  <a:srgbClr val="002060"/>
                </a:solidFill>
                <a:latin typeface="Garamond"/>
              </a:rPr>
              <a:t>se debe </a:t>
            </a:r>
            <a:r>
              <a:rPr lang="es-MX" sz="2400">
                <a:solidFill>
                  <a:srgbClr val="002060"/>
                </a:solidFill>
                <a:latin typeface="Garamond"/>
              </a:rPr>
              <a:t>reali</a:t>
            </a:r>
            <a:r>
              <a:rPr lang="es-ES" sz="2400">
                <a:solidFill>
                  <a:srgbClr val="002060"/>
                </a:solidFill>
                <a:latin typeface="Garamond"/>
              </a:rPr>
              <a:t>zar</a:t>
            </a:r>
            <a:r>
              <a:rPr lang="es-MX" sz="2400">
                <a:solidFill>
                  <a:srgbClr val="002060"/>
                </a:solidFill>
                <a:latin typeface="Garamond"/>
              </a:rPr>
              <a:t> actividades ajenas al curso. </a:t>
            </a:r>
            <a:r>
              <a:rPr lang="es-ES" sz="2400">
                <a:solidFill>
                  <a:srgbClr val="002060"/>
                </a:solidFill>
                <a:latin typeface="Garamond"/>
              </a:rPr>
              <a:t>El docente puede pedir que se detenga en lo que está haciendo</a:t>
            </a:r>
            <a:r>
              <a:rPr lang="es-MX" sz="2400">
                <a:solidFill>
                  <a:srgbClr val="002060"/>
                </a:solidFill>
                <a:latin typeface="Garamond"/>
              </a:rPr>
              <a:t>. Si </a:t>
            </a:r>
            <a:r>
              <a:rPr lang="es-ES" sz="2400">
                <a:solidFill>
                  <a:srgbClr val="002060"/>
                </a:solidFill>
                <a:latin typeface="Garamond"/>
              </a:rPr>
              <a:t>hay persistencia</a:t>
            </a:r>
            <a:r>
              <a:rPr lang="es-MX" sz="2400">
                <a:solidFill>
                  <a:srgbClr val="002060"/>
                </a:solidFill>
                <a:latin typeface="Garamond"/>
              </a:rPr>
              <a:t>,</a:t>
            </a:r>
            <a:r>
              <a:rPr lang="es-ES" sz="2400">
                <a:solidFill>
                  <a:srgbClr val="002060"/>
                </a:solidFill>
                <a:latin typeface="Garamond"/>
              </a:rPr>
              <a:t> el estudiante se deberá retirar </a:t>
            </a:r>
            <a:r>
              <a:rPr lang="es-MX" sz="2400">
                <a:solidFill>
                  <a:srgbClr val="002060"/>
                </a:solidFill>
                <a:latin typeface="Garamond"/>
              </a:rPr>
              <a:t>del aula.</a:t>
            </a:r>
            <a:endParaRPr/>
          </a:p>
          <a:p>
            <a:pPr marL="342900" indent="-342900">
              <a:buFont typeface="Wingdings"/>
              <a:buChar char="ü"/>
              <a:defRPr/>
            </a:pPr>
            <a:r>
              <a:rPr lang="es-CO" sz="2400">
                <a:solidFill>
                  <a:srgbClr val="002060"/>
                </a:solidFill>
                <a:latin typeface="Garamond"/>
              </a:rPr>
              <a:t>Está estrictamente prohibido invitar a personas no inscritas en el curso</a:t>
            </a:r>
            <a:r>
              <a:rPr lang="es-ES" sz="2400">
                <a:solidFill>
                  <a:srgbClr val="002060"/>
                </a:solidFill>
                <a:latin typeface="Garamond"/>
              </a:rPr>
              <a:t>.</a:t>
            </a:r>
            <a:endParaRPr/>
          </a:p>
          <a:p>
            <a:pPr marL="342900" indent="-342900">
              <a:buFont typeface="Wingdings"/>
              <a:buChar char="ü"/>
              <a:defRPr/>
            </a:pPr>
            <a:endParaRPr lang="es-MX" sz="2400">
              <a:solidFill>
                <a:srgbClr val="002060"/>
              </a:solidFill>
              <a:latin typeface="Garamond"/>
            </a:endParaRPr>
          </a:p>
        </p:txBody>
      </p:sp>
      <p:sp>
        <p:nvSpPr>
          <p:cNvPr id="1340307342" name="CuadroTexto 2"/>
          <p:cNvSpPr txBox="1"/>
          <p:nvPr/>
        </p:nvSpPr>
        <p:spPr bwMode="auto">
          <a:xfrm>
            <a:off x="827584" y="332656"/>
            <a:ext cx="77048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s-MX" sz="2800" b="1">
                <a:solidFill>
                  <a:srgbClr val="002060"/>
                </a:solidFill>
                <a:latin typeface="Garamond"/>
              </a:rPr>
              <a:t>REGLAS DE CONVIVENCIA DURANTE LA CLASE</a:t>
            </a:r>
            <a:endParaRPr lang="es-CO" sz="2800" b="1">
              <a:solidFill>
                <a:srgbClr val="002060"/>
              </a:solidFill>
              <a:latin typeface="Garamon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84702" name="1 Título"/>
          <p:cNvSpPr txBox="1"/>
          <p:nvPr/>
        </p:nvSpPr>
        <p:spPr bwMode="auto">
          <a:xfrm>
            <a:off x="360363" y="188913"/>
            <a:ext cx="8423275" cy="1143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defTabSz="4572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s-CO" sz="3200" b="1">
                <a:solidFill>
                  <a:srgbClr val="002060"/>
                </a:solidFill>
                <a:latin typeface="Garamond"/>
              </a:rPr>
              <a:t>REGLAS ELEMENTALES DE CONVIVENCIA DURANTE LA CLASE</a:t>
            </a:r>
            <a:endParaRPr/>
          </a:p>
        </p:txBody>
      </p:sp>
      <p:sp>
        <p:nvSpPr>
          <p:cNvPr id="1322541766" name="Rectángulo 2"/>
          <p:cNvSpPr>
            <a:spLocks noChangeArrowheads="1"/>
          </p:cNvSpPr>
          <p:nvPr/>
        </p:nvSpPr>
        <p:spPr bwMode="auto">
          <a:xfrm>
            <a:off x="214312" y="1484312"/>
            <a:ext cx="8761814" cy="29589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marL="342900" indent="-342900">
              <a:buFont typeface="Wingdings"/>
              <a:buChar char="ü"/>
              <a:defRPr/>
            </a:pPr>
            <a:r>
              <a:rPr lang="es-MX" sz="2400">
                <a:solidFill>
                  <a:srgbClr val="002060"/>
                </a:solidFill>
                <a:latin typeface="Garamond"/>
              </a:rPr>
              <a:t>Respeta</a:t>
            </a:r>
            <a:r>
              <a:rPr lang="es-ES" sz="2400">
                <a:solidFill>
                  <a:srgbClr val="002060"/>
                </a:solidFill>
                <a:latin typeface="Garamond"/>
              </a:rPr>
              <a:t>r</a:t>
            </a:r>
            <a:r>
              <a:rPr lang="es-MX" sz="2400">
                <a:solidFill>
                  <a:srgbClr val="002060"/>
                </a:solidFill>
                <a:latin typeface="Garamond"/>
              </a:rPr>
              <a:t> las opiniones y respuestas de </a:t>
            </a:r>
            <a:r>
              <a:rPr lang="es-ES" sz="2400">
                <a:solidFill>
                  <a:srgbClr val="002060"/>
                </a:solidFill>
                <a:latin typeface="Garamond"/>
              </a:rPr>
              <a:t>lo</a:t>
            </a:r>
            <a:r>
              <a:rPr lang="es-MX" sz="2400">
                <a:solidFill>
                  <a:srgbClr val="002060"/>
                </a:solidFill>
                <a:latin typeface="Garamond"/>
              </a:rPr>
              <a:t>s compañeros.</a:t>
            </a:r>
            <a:endParaRPr/>
          </a:p>
          <a:p>
            <a:pPr marL="342900" indent="-342900">
              <a:buFont typeface="Wingdings"/>
              <a:buChar char="ü"/>
              <a:defRPr/>
            </a:pPr>
            <a:r>
              <a:rPr lang="es-ES" sz="2400">
                <a:solidFill>
                  <a:srgbClr val="002060"/>
                </a:solidFill>
                <a:latin typeface="Garamond"/>
              </a:rPr>
              <a:t>Cualquier</a:t>
            </a:r>
            <a:r>
              <a:rPr lang="es-MX" sz="2400">
                <a:solidFill>
                  <a:srgbClr val="002060"/>
                </a:solidFill>
                <a:latin typeface="Garamond"/>
              </a:rPr>
              <a:t> duda o reclamo sobre una calificación, </a:t>
            </a:r>
            <a:r>
              <a:rPr lang="es-ES" sz="2400">
                <a:solidFill>
                  <a:srgbClr val="002060"/>
                </a:solidFill>
                <a:latin typeface="Garamond"/>
              </a:rPr>
              <a:t>se debe </a:t>
            </a:r>
            <a:r>
              <a:rPr lang="es-MX" sz="2400">
                <a:solidFill>
                  <a:srgbClr val="002060"/>
                </a:solidFill>
                <a:latin typeface="Garamond"/>
              </a:rPr>
              <a:t>dir</a:t>
            </a:r>
            <a:r>
              <a:rPr lang="es-ES" sz="2400">
                <a:solidFill>
                  <a:srgbClr val="002060"/>
                </a:solidFill>
                <a:latin typeface="Garamond"/>
              </a:rPr>
              <a:t>igir </a:t>
            </a:r>
            <a:r>
              <a:rPr lang="es-MX" sz="2400">
                <a:solidFill>
                  <a:srgbClr val="002060"/>
                </a:solidFill>
                <a:latin typeface="Garamond"/>
              </a:rPr>
              <a:t>al docente con actitud cordial y respetuosa.</a:t>
            </a:r>
            <a:endParaRPr/>
          </a:p>
          <a:p>
            <a:pPr marL="342900" indent="-342900">
              <a:buFont typeface="Wingdings"/>
              <a:buChar char="ü"/>
              <a:defRPr/>
            </a:pPr>
            <a:r>
              <a:rPr lang="es-ES" sz="2400">
                <a:solidFill>
                  <a:srgbClr val="002060"/>
                </a:solidFill>
                <a:latin typeface="Garamond"/>
              </a:rPr>
              <a:t>Una falla </a:t>
            </a:r>
            <a:r>
              <a:rPr lang="es-MX" sz="2400">
                <a:solidFill>
                  <a:srgbClr val="002060"/>
                </a:solidFill>
                <a:latin typeface="Garamond"/>
              </a:rPr>
              <a:t>a una actividad evaluativa debe presentar una excusa válida ante la Facultad para poder recuperarla</a:t>
            </a:r>
            <a:r>
              <a:rPr lang="es-MX"/>
              <a:t>. </a:t>
            </a:r>
            <a:endParaRPr lang="es-CO" sz="2400">
              <a:solidFill>
                <a:srgbClr val="002060"/>
              </a:solidFill>
              <a:latin typeface="Garamond"/>
            </a:endParaRPr>
          </a:p>
          <a:p>
            <a:pPr marL="342900" indent="-342900">
              <a:buFont typeface="Wingdings"/>
              <a:buChar char="ü"/>
              <a:defRPr/>
            </a:pPr>
            <a:r>
              <a:rPr lang="es-ES" sz="2400">
                <a:solidFill>
                  <a:srgbClr val="002060"/>
                </a:solidFill>
                <a:latin typeface="Garamond"/>
              </a:rPr>
              <a:t>No usar celular.</a:t>
            </a:r>
            <a:endParaRPr/>
          </a:p>
          <a:p>
            <a:pPr marL="342900" indent="-342900">
              <a:buFont typeface="Wingdings"/>
              <a:buChar char="ü"/>
              <a:defRPr/>
            </a:pPr>
            <a:r>
              <a:rPr lang="es-ES" sz="2400">
                <a:solidFill>
                  <a:srgbClr val="002060"/>
                </a:solidFill>
                <a:latin typeface="Garamond"/>
              </a:rPr>
              <a:t>No usar audífonos.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106851" name="1 Título"/>
          <p:cNvSpPr txBox="1"/>
          <p:nvPr/>
        </p:nvSpPr>
        <p:spPr bwMode="auto">
          <a:xfrm>
            <a:off x="360363" y="188913"/>
            <a:ext cx="8423275" cy="1143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defTabSz="4572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s-ES" sz="3200" b="1">
                <a:solidFill>
                  <a:srgbClr val="002060"/>
                </a:solidFill>
                <a:latin typeface="Garamond"/>
              </a:rPr>
              <a:t>I</a:t>
            </a:r>
            <a:r>
              <a:rPr lang="es-CO" sz="3200" b="1">
                <a:solidFill>
                  <a:srgbClr val="002060"/>
                </a:solidFill>
                <a:latin typeface="Garamond"/>
              </a:rPr>
              <a:t>NASISTENCIAS</a:t>
            </a:r>
            <a:endParaRPr/>
          </a:p>
        </p:txBody>
      </p:sp>
      <p:sp>
        <p:nvSpPr>
          <p:cNvPr id="2007340915" name="Rectángulo 2"/>
          <p:cNvSpPr>
            <a:spLocks noChangeArrowheads="1"/>
          </p:cNvSpPr>
          <p:nvPr/>
        </p:nvSpPr>
        <p:spPr bwMode="auto">
          <a:xfrm>
            <a:off x="214312" y="1484312"/>
            <a:ext cx="8798894" cy="232090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marL="342900" indent="-342900">
              <a:buFont typeface="Wingdings"/>
              <a:buChar char="ü"/>
              <a:defRPr/>
            </a:pPr>
            <a:r>
              <a:rPr lang="es-MX" sz="2400" dirty="0">
                <a:solidFill>
                  <a:srgbClr val="002060"/>
                </a:solidFill>
                <a:latin typeface="Garamond"/>
              </a:rPr>
              <a:t>Toda inasistencia a clase se reportará.</a:t>
            </a:r>
            <a:endParaRPr dirty="0"/>
          </a:p>
          <a:p>
            <a:pPr marL="342900" indent="-342900">
              <a:buFont typeface="Wingdings"/>
              <a:buChar char="ü"/>
              <a:defRPr/>
            </a:pPr>
            <a:r>
              <a:rPr lang="es-MX" sz="2400" dirty="0">
                <a:solidFill>
                  <a:srgbClr val="002060"/>
                </a:solidFill>
                <a:latin typeface="Garamond"/>
              </a:rPr>
              <a:t>Para presentar alguna actividad evaluable realizada en el día de la inasistencia, el estudiante deberá tener una autorización por parte de la Facultad al que pertenezca.</a:t>
            </a:r>
            <a:endParaRPr dirty="0"/>
          </a:p>
          <a:p>
            <a:pPr marL="342900" indent="-342900">
              <a:buFont typeface="Wingdings"/>
              <a:buChar char="ü"/>
              <a:defRPr/>
            </a:pPr>
            <a:r>
              <a:rPr lang="es-ES" sz="2400" b="0" i="0" u="none" strike="noStrike" cap="none" spc="0" dirty="0">
                <a:solidFill>
                  <a:srgbClr val="002060"/>
                </a:solidFill>
                <a:latin typeface="Garamond"/>
                <a:ea typeface="Garamond"/>
                <a:cs typeface="Garamond"/>
              </a:rPr>
              <a:t>La </a:t>
            </a:r>
            <a:r>
              <a:rPr lang="es-ES" sz="2400" dirty="0">
                <a:solidFill>
                  <a:srgbClr val="002060"/>
                </a:solidFill>
                <a:latin typeface="Garamond"/>
              </a:rPr>
              <a:t>materia se pierde si se tiene el 20% de las fallas (</a:t>
            </a:r>
            <a:r>
              <a:rPr lang="es-ES" sz="2400" dirty="0">
                <a:solidFill>
                  <a:srgbClr val="002060"/>
                </a:solidFill>
                <a:highlight>
                  <a:srgbClr val="FFFF00"/>
                </a:highlight>
                <a:latin typeface="Garamond"/>
              </a:rPr>
              <a:t>Título VIII: De la asistencia a las actividades académicas</a:t>
            </a:r>
            <a:r>
              <a:rPr lang="es-ES" sz="2400" dirty="0">
                <a:solidFill>
                  <a:srgbClr val="002060"/>
                </a:solidFill>
                <a:latin typeface="Garamond"/>
              </a:rPr>
              <a:t>, Capítulo I)</a:t>
            </a:r>
            <a:endParaRPr lang="es-MX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Tema de 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LongProperties xmlns="http://schemas.microsoft.com/office/2006/metadata/longProperties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D4D4F5D545A2C41A627CF0150B4E63D" ma:contentTypeVersion="0" ma:contentTypeDescription="Crear nuevo documento." ma:contentTypeScope="" ma:versionID="1287a9645462bc32df0bd3aaa76e76f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037ac2621b9b9c8cd06b50fac5857c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B8C8C4-8E97-4488-BA4A-EFE02A969D27}">
  <ds:schemaRefs>
    <ds:schemaRef ds:uri="http://schemas.microsoft.com/office/2006/metadata/longProperties"/>
  </ds:schemaRefs>
</ds:datastoreItem>
</file>

<file path=customXml/itemProps2.xml><?xml version="1.0" encoding="utf-8"?>
<ds:datastoreItem xmlns:ds="http://schemas.openxmlformats.org/officeDocument/2006/customXml" ds:itemID="{5877A88F-54E3-4CE2-B786-21E5C5F801B7}"/>
</file>

<file path=customXml/itemProps3.xml><?xml version="1.0" encoding="utf-8"?>
<ds:datastoreItem xmlns:ds="http://schemas.openxmlformats.org/officeDocument/2006/customXml" ds:itemID="{6D891332-8A51-4AD2-94A4-94A683CFCBB2}">
  <ds:schemaRefs>
    <ds:schemaRef ds:uri="http://schemas.microsoft.com/office/2006/metadata/properties"/>
    <ds:schemaRef ds:uri="http://www.w3.org/2000/xmlns/"/>
    <ds:schemaRef ds:uri="http://schemas.microsoft.com/office/infopath/2007/PartnerControls"/>
    <ds:schemaRef ds:uri="http://www.w3.org/2001/XMLSchema-instance"/>
  </ds:schemaRefs>
</ds:datastoreItem>
</file>

<file path=customXml/itemProps4.xml><?xml version="1.0" encoding="utf-8"?>
<ds:datastoreItem xmlns:ds="http://schemas.openxmlformats.org/officeDocument/2006/customXml" ds:itemID="{32FD9E4D-0500-41D4-A8E4-077ADCBC9B80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</TotalTime>
  <Words>956</Words>
  <Application>Microsoft Office PowerPoint</Application>
  <PresentationFormat>Presentación en pantalla (4:3)</PresentationFormat>
  <Paragraphs>121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31" baseType="lpstr">
      <vt:lpstr>Arial</vt:lpstr>
      <vt:lpstr>Asana Math</vt:lpstr>
      <vt:lpstr>Calibri</vt:lpstr>
      <vt:lpstr>Calibri Light</vt:lpstr>
      <vt:lpstr>Cambria</vt:lpstr>
      <vt:lpstr>Garamond</vt:lpstr>
      <vt:lpstr>Segoe UI 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PORCENTAJES DE EVALUACIÓN POR CORTE </vt:lpstr>
      <vt:lpstr> PORCENTAJES DE EVALUACIÓN POR CORTE </vt:lpstr>
      <vt:lpstr> FECHAS DE EVALUACIÓN </vt:lpstr>
      <vt:lpstr> PRESENTACIÓN QUICES - PRESENCIALES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REGLAS ELEMENTALES DE CONVIVENCIA</vt:lpstr>
      <vt:lpstr>Presentación de PowerPoint</vt:lpstr>
      <vt:lpstr>Presentación de PowerPoint</vt:lpstr>
      <vt:lpstr>Presentación de PowerPoint</vt:lpstr>
    </vt:vector>
  </TitlesOfParts>
  <Company>The houze!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WinuE</dc:creator>
  <cp:lastModifiedBy>Carlos Ramos</cp:lastModifiedBy>
  <cp:revision>250</cp:revision>
  <dcterms:created xsi:type="dcterms:W3CDTF">2010-09-16T15:50:37Z</dcterms:created>
  <dcterms:modified xsi:type="dcterms:W3CDTF">2026-07-21T15:22:46Z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">
    <vt:lpwstr>5CJVHRM7X7WS-166-5</vt:lpwstr>
  </property>
  <property fmtid="{D5CDD505-2E9C-101B-9397-08002B2CF9AE}" pid="3" name="_dlc_DocIdItemGuid">
    <vt:lpwstr>81c05e33-a31a-4a23-b9dd-d86861ea50cd</vt:lpwstr>
  </property>
  <property fmtid="{D5CDD505-2E9C-101B-9397-08002B2CF9AE}" pid="4" name="_dlc_DocIdUrl">
    <vt:lpwstr>https://portalservicios.unisabana.edu.co/manualIV/_layouts/DocIdRedir.aspx?ID=5CJVHRM7X7WS-166-5, 5CJVHRM7X7WS-166-5</vt:lpwstr>
  </property>
  <property fmtid="{D5CDD505-2E9C-101B-9397-08002B2CF9AE}" pid="5" name="ContentTypeId">
    <vt:lpwstr>0x0101009D4D4F5D545A2C41A627CF0150B4E63D</vt:lpwstr>
  </property>
</Properties>
</file>